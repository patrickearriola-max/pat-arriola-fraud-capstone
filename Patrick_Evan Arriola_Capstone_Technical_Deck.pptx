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1" r:id="rId1"/>
  </p:sldMasterIdLst>
  <p:notesMasterIdLst>
    <p:notesMasterId r:id="rId26"/>
  </p:notesMasterIdLst>
  <p:sldIdLst>
    <p:sldId id="256" r:id="rId2"/>
    <p:sldId id="279" r:id="rId3"/>
    <p:sldId id="257" r:id="rId4"/>
    <p:sldId id="270" r:id="rId5"/>
    <p:sldId id="258" r:id="rId6"/>
    <p:sldId id="269" r:id="rId7"/>
    <p:sldId id="259" r:id="rId8"/>
    <p:sldId id="274" r:id="rId9"/>
    <p:sldId id="260" r:id="rId10"/>
    <p:sldId id="275" r:id="rId11"/>
    <p:sldId id="261" r:id="rId12"/>
    <p:sldId id="276" r:id="rId13"/>
    <p:sldId id="262" r:id="rId14"/>
    <p:sldId id="263" r:id="rId15"/>
    <p:sldId id="264" r:id="rId16"/>
    <p:sldId id="265" r:id="rId17"/>
    <p:sldId id="266" r:id="rId18"/>
    <p:sldId id="267" r:id="rId19"/>
    <p:sldId id="273" r:id="rId20"/>
    <p:sldId id="268" r:id="rId21"/>
    <p:sldId id="271" r:id="rId22"/>
    <p:sldId id="277" r:id="rId23"/>
    <p:sldId id="278" r:id="rId24"/>
    <p:sldId id="272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18" y="2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4" Type="http://schemas.openxmlformats.org/officeDocument/2006/relationships/image" Target="../media/image11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4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463C1BC-FE46-459D-B341-3765173D4EDC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2BB55A79-1A2C-4D41-9046-7A54F0EB0B6A}">
      <dgm:prSet/>
      <dgm:spPr/>
      <dgm:t>
        <a:bodyPr/>
        <a:lstStyle/>
        <a:p>
          <a:r>
            <a:rPr lang="en-US" dirty="0"/>
            <a:t>Rising chargebacks in card‑not‑present (CNP) channel</a:t>
          </a:r>
        </a:p>
      </dgm:t>
    </dgm:pt>
    <dgm:pt modelId="{1FFCF74F-0444-4F3D-85EE-38FB8A919F68}" type="parTrans" cxnId="{DCE09C35-3D88-48CF-A8B7-F3BBF3503F8A}">
      <dgm:prSet/>
      <dgm:spPr/>
      <dgm:t>
        <a:bodyPr/>
        <a:lstStyle/>
        <a:p>
          <a:endParaRPr lang="en-US"/>
        </a:p>
      </dgm:t>
    </dgm:pt>
    <dgm:pt modelId="{F61DF205-84D7-479C-9EF3-BAAA74B0D181}" type="sibTrans" cxnId="{DCE09C35-3D88-48CF-A8B7-F3BBF3503F8A}">
      <dgm:prSet/>
      <dgm:spPr/>
      <dgm:t>
        <a:bodyPr/>
        <a:lstStyle/>
        <a:p>
          <a:endParaRPr lang="en-US"/>
        </a:p>
      </dgm:t>
    </dgm:pt>
    <dgm:pt modelId="{80068757-488E-4ACE-9501-F1CF76E96CC2}">
      <dgm:prSet/>
      <dgm:spPr/>
      <dgm:t>
        <a:bodyPr/>
        <a:lstStyle/>
        <a:p>
          <a:r>
            <a:rPr lang="en-US" dirty="0"/>
            <a:t>Business goal: reduce fraud losses by ≥20% while keeping FPR ≤1% and alert volume within Ops capacity</a:t>
          </a:r>
        </a:p>
      </dgm:t>
    </dgm:pt>
    <dgm:pt modelId="{F0446023-A71D-4471-A423-7929214B714E}" type="parTrans" cxnId="{7699FFC6-FA3C-437E-8170-4CAAB77FD14E}">
      <dgm:prSet/>
      <dgm:spPr/>
      <dgm:t>
        <a:bodyPr/>
        <a:lstStyle/>
        <a:p>
          <a:endParaRPr lang="en-US"/>
        </a:p>
      </dgm:t>
    </dgm:pt>
    <dgm:pt modelId="{ECA7D4C8-82D9-4574-917C-3AFB78ECF598}" type="sibTrans" cxnId="{7699FFC6-FA3C-437E-8170-4CAAB77FD14E}">
      <dgm:prSet/>
      <dgm:spPr/>
      <dgm:t>
        <a:bodyPr/>
        <a:lstStyle/>
        <a:p>
          <a:endParaRPr lang="en-US"/>
        </a:p>
      </dgm:t>
    </dgm:pt>
    <dgm:pt modelId="{9A736D7F-D0D8-4DEA-87B7-4AEC0D43B4D9}">
      <dgm:prSet/>
      <dgm:spPr/>
      <dgm:t>
        <a:bodyPr/>
        <a:lstStyle/>
        <a:p>
          <a:r>
            <a:rPr lang="en-US" dirty="0"/>
            <a:t>ML goal: real‑time fraud scoring + threshold policy optimized for Expected Value (₱)</a:t>
          </a:r>
        </a:p>
      </dgm:t>
    </dgm:pt>
    <dgm:pt modelId="{A39D88A2-CDDF-48E4-8CE1-BBDA21294BE1}" type="parTrans" cxnId="{5E47B838-ED1E-42C5-B9F4-CBF43312E0D5}">
      <dgm:prSet/>
      <dgm:spPr/>
      <dgm:t>
        <a:bodyPr/>
        <a:lstStyle/>
        <a:p>
          <a:endParaRPr lang="en-US"/>
        </a:p>
      </dgm:t>
    </dgm:pt>
    <dgm:pt modelId="{95F96F61-6907-417B-992B-4A7B3951C784}" type="sibTrans" cxnId="{5E47B838-ED1E-42C5-B9F4-CBF43312E0D5}">
      <dgm:prSet/>
      <dgm:spPr/>
      <dgm:t>
        <a:bodyPr/>
        <a:lstStyle/>
        <a:p>
          <a:endParaRPr lang="en-US"/>
        </a:p>
      </dgm:t>
    </dgm:pt>
    <dgm:pt modelId="{684149E3-1066-4039-8633-B22B84A634E3}" type="pres">
      <dgm:prSet presAssocID="{A463C1BC-FE46-459D-B341-3765173D4EDC}" presName="root" presStyleCnt="0">
        <dgm:presLayoutVars>
          <dgm:dir/>
          <dgm:resizeHandles val="exact"/>
        </dgm:presLayoutVars>
      </dgm:prSet>
      <dgm:spPr/>
    </dgm:pt>
    <dgm:pt modelId="{848507CC-CA95-4907-BBBD-CDCFA9BD3455}" type="pres">
      <dgm:prSet presAssocID="{2BB55A79-1A2C-4D41-9046-7A54F0EB0B6A}" presName="compNode" presStyleCnt="0"/>
      <dgm:spPr/>
    </dgm:pt>
    <dgm:pt modelId="{938BD482-3D89-410B-AB71-2FE10E702B00}" type="pres">
      <dgm:prSet presAssocID="{2BB55A79-1A2C-4D41-9046-7A54F0EB0B6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et"/>
        </a:ext>
      </dgm:extLst>
    </dgm:pt>
    <dgm:pt modelId="{0083D3F1-781A-4F69-B307-34E3A49C8964}" type="pres">
      <dgm:prSet presAssocID="{2BB55A79-1A2C-4D41-9046-7A54F0EB0B6A}" presName="spaceRect" presStyleCnt="0"/>
      <dgm:spPr/>
    </dgm:pt>
    <dgm:pt modelId="{CB11B641-3F41-49E5-B2A4-50BC809C26C4}" type="pres">
      <dgm:prSet presAssocID="{2BB55A79-1A2C-4D41-9046-7A54F0EB0B6A}" presName="textRect" presStyleLbl="revTx" presStyleIdx="0" presStyleCnt="3">
        <dgm:presLayoutVars>
          <dgm:chMax val="1"/>
          <dgm:chPref val="1"/>
        </dgm:presLayoutVars>
      </dgm:prSet>
      <dgm:spPr/>
    </dgm:pt>
    <dgm:pt modelId="{3D17D48D-0990-40B7-8B21-5094384815F5}" type="pres">
      <dgm:prSet presAssocID="{F61DF205-84D7-479C-9EF3-BAAA74B0D181}" presName="sibTrans" presStyleCnt="0"/>
      <dgm:spPr/>
    </dgm:pt>
    <dgm:pt modelId="{A890DE02-FF04-4112-B72A-12097B28A048}" type="pres">
      <dgm:prSet presAssocID="{80068757-488E-4ACE-9501-F1CF76E96CC2}" presName="compNode" presStyleCnt="0"/>
      <dgm:spPr/>
    </dgm:pt>
    <dgm:pt modelId="{C5E44ECA-C71D-4D86-ABFA-419E61B4129C}" type="pres">
      <dgm:prSet presAssocID="{80068757-488E-4ACE-9501-F1CF76E96CC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742434BA-99FB-460A-ADC2-F9A0CD8D9D59}" type="pres">
      <dgm:prSet presAssocID="{80068757-488E-4ACE-9501-F1CF76E96CC2}" presName="spaceRect" presStyleCnt="0"/>
      <dgm:spPr/>
    </dgm:pt>
    <dgm:pt modelId="{F9E210DB-7192-4FE8-970D-358C92D51A0B}" type="pres">
      <dgm:prSet presAssocID="{80068757-488E-4ACE-9501-F1CF76E96CC2}" presName="textRect" presStyleLbl="revTx" presStyleIdx="1" presStyleCnt="3">
        <dgm:presLayoutVars>
          <dgm:chMax val="1"/>
          <dgm:chPref val="1"/>
        </dgm:presLayoutVars>
      </dgm:prSet>
      <dgm:spPr/>
    </dgm:pt>
    <dgm:pt modelId="{095FB445-FBC0-4CBE-A258-BA83D19B21CE}" type="pres">
      <dgm:prSet presAssocID="{ECA7D4C8-82D9-4574-917C-3AFB78ECF598}" presName="sibTrans" presStyleCnt="0"/>
      <dgm:spPr/>
    </dgm:pt>
    <dgm:pt modelId="{127C59C6-9D04-4A2B-AA55-3E79F9917F5D}" type="pres">
      <dgm:prSet presAssocID="{9A736D7F-D0D8-4DEA-87B7-4AEC0D43B4D9}" presName="compNode" presStyleCnt="0"/>
      <dgm:spPr/>
    </dgm:pt>
    <dgm:pt modelId="{DFB9DDE4-AAED-4332-A8BC-A6358F10D3EE}" type="pres">
      <dgm:prSet presAssocID="{9A736D7F-D0D8-4DEA-87B7-4AEC0D43B4D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726A7CDF-B55B-464D-A333-9BDF3F4FC29A}" type="pres">
      <dgm:prSet presAssocID="{9A736D7F-D0D8-4DEA-87B7-4AEC0D43B4D9}" presName="spaceRect" presStyleCnt="0"/>
      <dgm:spPr/>
    </dgm:pt>
    <dgm:pt modelId="{C6C677BC-E28D-428F-82FE-8DC05F885A03}" type="pres">
      <dgm:prSet presAssocID="{9A736D7F-D0D8-4DEA-87B7-4AEC0D43B4D9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CFD97D16-12F1-4F83-8643-AFACECD0877C}" type="presOf" srcId="{80068757-488E-4ACE-9501-F1CF76E96CC2}" destId="{F9E210DB-7192-4FE8-970D-358C92D51A0B}" srcOrd="0" destOrd="0" presId="urn:microsoft.com/office/officeart/2018/2/layout/IconLabelList"/>
    <dgm:cxn modelId="{DCE09C35-3D88-48CF-A8B7-F3BBF3503F8A}" srcId="{A463C1BC-FE46-459D-B341-3765173D4EDC}" destId="{2BB55A79-1A2C-4D41-9046-7A54F0EB0B6A}" srcOrd="0" destOrd="0" parTransId="{1FFCF74F-0444-4F3D-85EE-38FB8A919F68}" sibTransId="{F61DF205-84D7-479C-9EF3-BAAA74B0D181}"/>
    <dgm:cxn modelId="{5E47B838-ED1E-42C5-B9F4-CBF43312E0D5}" srcId="{A463C1BC-FE46-459D-B341-3765173D4EDC}" destId="{9A736D7F-D0D8-4DEA-87B7-4AEC0D43B4D9}" srcOrd="2" destOrd="0" parTransId="{A39D88A2-CDDF-48E4-8CE1-BBDA21294BE1}" sibTransId="{95F96F61-6907-417B-992B-4A7B3951C784}"/>
    <dgm:cxn modelId="{0CCD4A63-981B-40F3-B1EF-4E4162F00F3F}" type="presOf" srcId="{A463C1BC-FE46-459D-B341-3765173D4EDC}" destId="{684149E3-1066-4039-8633-B22B84A634E3}" srcOrd="0" destOrd="0" presId="urn:microsoft.com/office/officeart/2018/2/layout/IconLabelList"/>
    <dgm:cxn modelId="{1629587F-553C-4B58-A985-BDC4440EA3D4}" type="presOf" srcId="{2BB55A79-1A2C-4D41-9046-7A54F0EB0B6A}" destId="{CB11B641-3F41-49E5-B2A4-50BC809C26C4}" srcOrd="0" destOrd="0" presId="urn:microsoft.com/office/officeart/2018/2/layout/IconLabelList"/>
    <dgm:cxn modelId="{A0CE48AA-5767-4869-937A-CF12798EA354}" type="presOf" srcId="{9A736D7F-D0D8-4DEA-87B7-4AEC0D43B4D9}" destId="{C6C677BC-E28D-428F-82FE-8DC05F885A03}" srcOrd="0" destOrd="0" presId="urn:microsoft.com/office/officeart/2018/2/layout/IconLabelList"/>
    <dgm:cxn modelId="{7699FFC6-FA3C-437E-8170-4CAAB77FD14E}" srcId="{A463C1BC-FE46-459D-B341-3765173D4EDC}" destId="{80068757-488E-4ACE-9501-F1CF76E96CC2}" srcOrd="1" destOrd="0" parTransId="{F0446023-A71D-4471-A423-7929214B714E}" sibTransId="{ECA7D4C8-82D9-4574-917C-3AFB78ECF598}"/>
    <dgm:cxn modelId="{72C7296D-D0E2-4E4C-B747-3F8B0B17D3FD}" type="presParOf" srcId="{684149E3-1066-4039-8633-B22B84A634E3}" destId="{848507CC-CA95-4907-BBBD-CDCFA9BD3455}" srcOrd="0" destOrd="0" presId="urn:microsoft.com/office/officeart/2018/2/layout/IconLabelList"/>
    <dgm:cxn modelId="{63FF8C04-B306-4C5B-A18F-C9316AB5EA0D}" type="presParOf" srcId="{848507CC-CA95-4907-BBBD-CDCFA9BD3455}" destId="{938BD482-3D89-410B-AB71-2FE10E702B00}" srcOrd="0" destOrd="0" presId="urn:microsoft.com/office/officeart/2018/2/layout/IconLabelList"/>
    <dgm:cxn modelId="{4E7D7F85-6C72-4F77-9930-811FD44C676E}" type="presParOf" srcId="{848507CC-CA95-4907-BBBD-CDCFA9BD3455}" destId="{0083D3F1-781A-4F69-B307-34E3A49C8964}" srcOrd="1" destOrd="0" presId="urn:microsoft.com/office/officeart/2018/2/layout/IconLabelList"/>
    <dgm:cxn modelId="{3CD768B4-2F31-479A-A2F0-6EE28A800032}" type="presParOf" srcId="{848507CC-CA95-4907-BBBD-CDCFA9BD3455}" destId="{CB11B641-3F41-49E5-B2A4-50BC809C26C4}" srcOrd="2" destOrd="0" presId="urn:microsoft.com/office/officeart/2018/2/layout/IconLabelList"/>
    <dgm:cxn modelId="{90EFB100-25B5-4CDF-B90E-D2B86DF46EDD}" type="presParOf" srcId="{684149E3-1066-4039-8633-B22B84A634E3}" destId="{3D17D48D-0990-40B7-8B21-5094384815F5}" srcOrd="1" destOrd="0" presId="urn:microsoft.com/office/officeart/2018/2/layout/IconLabelList"/>
    <dgm:cxn modelId="{5FA58140-200E-426D-8E0E-A768DC66E961}" type="presParOf" srcId="{684149E3-1066-4039-8633-B22B84A634E3}" destId="{A890DE02-FF04-4112-B72A-12097B28A048}" srcOrd="2" destOrd="0" presId="urn:microsoft.com/office/officeart/2018/2/layout/IconLabelList"/>
    <dgm:cxn modelId="{2FCC1D35-FFF2-4F9B-A727-C938F69BFED7}" type="presParOf" srcId="{A890DE02-FF04-4112-B72A-12097B28A048}" destId="{C5E44ECA-C71D-4D86-ABFA-419E61B4129C}" srcOrd="0" destOrd="0" presId="urn:microsoft.com/office/officeart/2018/2/layout/IconLabelList"/>
    <dgm:cxn modelId="{E9D69F23-7F5F-4344-9184-76FAB4B5C1E1}" type="presParOf" srcId="{A890DE02-FF04-4112-B72A-12097B28A048}" destId="{742434BA-99FB-460A-ADC2-F9A0CD8D9D59}" srcOrd="1" destOrd="0" presId="urn:microsoft.com/office/officeart/2018/2/layout/IconLabelList"/>
    <dgm:cxn modelId="{BD40DDFF-E9C9-4347-AEEE-434AB665E47E}" type="presParOf" srcId="{A890DE02-FF04-4112-B72A-12097B28A048}" destId="{F9E210DB-7192-4FE8-970D-358C92D51A0B}" srcOrd="2" destOrd="0" presId="urn:microsoft.com/office/officeart/2018/2/layout/IconLabelList"/>
    <dgm:cxn modelId="{08A2884D-4571-43B0-8799-7BAA24DDC269}" type="presParOf" srcId="{684149E3-1066-4039-8633-B22B84A634E3}" destId="{095FB445-FBC0-4CBE-A258-BA83D19B21CE}" srcOrd="3" destOrd="0" presId="urn:microsoft.com/office/officeart/2018/2/layout/IconLabelList"/>
    <dgm:cxn modelId="{BE076B75-83E2-48F4-8EED-637BC53F4F62}" type="presParOf" srcId="{684149E3-1066-4039-8633-B22B84A634E3}" destId="{127C59C6-9D04-4A2B-AA55-3E79F9917F5D}" srcOrd="4" destOrd="0" presId="urn:microsoft.com/office/officeart/2018/2/layout/IconLabelList"/>
    <dgm:cxn modelId="{C1F5306B-1006-4C3F-9CF9-135886278B1F}" type="presParOf" srcId="{127C59C6-9D04-4A2B-AA55-3E79F9917F5D}" destId="{DFB9DDE4-AAED-4332-A8BC-A6358F10D3EE}" srcOrd="0" destOrd="0" presId="urn:microsoft.com/office/officeart/2018/2/layout/IconLabelList"/>
    <dgm:cxn modelId="{0265EFD4-C369-4EF1-B7DD-A78EC22846F7}" type="presParOf" srcId="{127C59C6-9D04-4A2B-AA55-3E79F9917F5D}" destId="{726A7CDF-B55B-464D-A333-9BDF3F4FC29A}" srcOrd="1" destOrd="0" presId="urn:microsoft.com/office/officeart/2018/2/layout/IconLabelList"/>
    <dgm:cxn modelId="{4A508EC5-75B4-450C-BDBA-D3EBB3D7B153}" type="presParOf" srcId="{127C59C6-9D04-4A2B-AA55-3E79F9917F5D}" destId="{C6C677BC-E28D-428F-82FE-8DC05F885A03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B4BE1CB-FA5D-419E-89EC-C6CB404244FD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4034476-8C3B-4DB6-B42C-28F7929BAFF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Dataset: Kaggle credit card transactions</a:t>
          </a:r>
        </a:p>
      </dgm:t>
    </dgm:pt>
    <dgm:pt modelId="{EAF3CE2E-DE9C-4930-AA42-1C6D16C4C6DC}" type="parTrans" cxnId="{D500D7AE-4E90-42AD-B193-31F085E81522}">
      <dgm:prSet/>
      <dgm:spPr/>
      <dgm:t>
        <a:bodyPr/>
        <a:lstStyle/>
        <a:p>
          <a:endParaRPr lang="en-US"/>
        </a:p>
      </dgm:t>
    </dgm:pt>
    <dgm:pt modelId="{B767AE3E-25E3-4269-BC03-A17891D53089}" type="sibTrans" cxnId="{D500D7AE-4E90-42AD-B193-31F085E81522}">
      <dgm:prSet/>
      <dgm:spPr/>
      <dgm:t>
        <a:bodyPr/>
        <a:lstStyle/>
        <a:p>
          <a:endParaRPr lang="en-US"/>
        </a:p>
      </dgm:t>
    </dgm:pt>
    <dgm:pt modelId="{3D9BC787-0CD9-4B1B-9BDE-4AE8FE2AAD9F}">
      <dgm:prSet/>
      <dgm:spPr/>
      <dgm:t>
        <a:bodyPr/>
        <a:lstStyle/>
        <a:p>
          <a:pPr>
            <a:lnSpc>
              <a:spcPct val="100000"/>
            </a:lnSpc>
          </a:pPr>
          <a:r>
            <a:rPr lang="en-PH"/>
            <a:t>Creditcard.csv (saved and open with MS Excel)</a:t>
          </a:r>
          <a:endParaRPr lang="en-US"/>
        </a:p>
      </dgm:t>
    </dgm:pt>
    <dgm:pt modelId="{046E2696-6A0F-46BD-AD53-D75D3C9337C6}" type="parTrans" cxnId="{49FE8702-1348-423E-94E2-B5D1B967BEC8}">
      <dgm:prSet/>
      <dgm:spPr/>
      <dgm:t>
        <a:bodyPr/>
        <a:lstStyle/>
        <a:p>
          <a:endParaRPr lang="en-US"/>
        </a:p>
      </dgm:t>
    </dgm:pt>
    <dgm:pt modelId="{D8D148F5-CA41-457C-9936-52D4E3A06CA2}" type="sibTrans" cxnId="{49FE8702-1348-423E-94E2-B5D1B967BEC8}">
      <dgm:prSet/>
      <dgm:spPr/>
      <dgm:t>
        <a:bodyPr/>
        <a:lstStyle/>
        <a:p>
          <a:endParaRPr lang="en-US"/>
        </a:p>
      </dgm:t>
    </dgm:pt>
    <dgm:pt modelId="{131ABB97-F757-4F68-A46E-0BE5F5BA7CB2}">
      <dgm:prSet/>
      <dgm:spPr/>
    </dgm:pt>
    <dgm:pt modelId="{68ECEB34-0B99-4B21-A034-D194FF6B48C5}" type="parTrans" cxnId="{6B66DBBD-F66A-4CA2-9C0C-7BF76C074980}">
      <dgm:prSet/>
      <dgm:spPr/>
      <dgm:t>
        <a:bodyPr/>
        <a:lstStyle/>
        <a:p>
          <a:endParaRPr lang="en-US"/>
        </a:p>
      </dgm:t>
    </dgm:pt>
    <dgm:pt modelId="{2BC7C1EC-A2A8-4C7F-9674-BC12E27BA41E}" type="sibTrans" cxnId="{6B66DBBD-F66A-4CA2-9C0C-7BF76C074980}">
      <dgm:prSet/>
      <dgm:spPr/>
      <dgm:t>
        <a:bodyPr/>
        <a:lstStyle/>
        <a:p>
          <a:endParaRPr lang="en-US"/>
        </a:p>
      </dgm:t>
    </dgm:pt>
    <dgm:pt modelId="{9964AA83-A18D-4516-A5AD-679201EA133E}">
      <dgm:prSet/>
      <dgm:spPr/>
    </dgm:pt>
    <dgm:pt modelId="{DABBD937-4D64-48F9-B449-6AA70A7E8294}" type="parTrans" cxnId="{54DC7169-C37D-46E3-85CB-7A3D9820B965}">
      <dgm:prSet/>
      <dgm:spPr/>
      <dgm:t>
        <a:bodyPr/>
        <a:lstStyle/>
        <a:p>
          <a:endParaRPr lang="en-US"/>
        </a:p>
      </dgm:t>
    </dgm:pt>
    <dgm:pt modelId="{9D5186AF-0C8E-4DFC-B6D3-50EAC03AA859}" type="sibTrans" cxnId="{54DC7169-C37D-46E3-85CB-7A3D9820B965}">
      <dgm:prSet/>
      <dgm:spPr/>
      <dgm:t>
        <a:bodyPr/>
        <a:lstStyle/>
        <a:p>
          <a:endParaRPr lang="en-US"/>
        </a:p>
      </dgm:t>
    </dgm:pt>
    <dgm:pt modelId="{B6405145-386D-4FC4-8F4B-A6B72EF39B1D}">
      <dgm:prSet/>
      <dgm:spPr/>
    </dgm:pt>
    <dgm:pt modelId="{057A6DCC-19A1-49D0-89BD-59E85919D5B7}" type="parTrans" cxnId="{94732C93-B725-49F3-95E6-1388C42E4B58}">
      <dgm:prSet/>
      <dgm:spPr/>
      <dgm:t>
        <a:bodyPr/>
        <a:lstStyle/>
        <a:p>
          <a:endParaRPr lang="en-US"/>
        </a:p>
      </dgm:t>
    </dgm:pt>
    <dgm:pt modelId="{012FF38C-E058-448B-8A48-8FC16BFF25C0}" type="sibTrans" cxnId="{94732C93-B725-49F3-95E6-1388C42E4B58}">
      <dgm:prSet/>
      <dgm:spPr/>
      <dgm:t>
        <a:bodyPr/>
        <a:lstStyle/>
        <a:p>
          <a:endParaRPr lang="en-US"/>
        </a:p>
      </dgm:t>
    </dgm:pt>
    <dgm:pt modelId="{2E6B56E3-B554-4C00-952B-C487FD3DABC9}" type="pres">
      <dgm:prSet presAssocID="{FB4BE1CB-FA5D-419E-89EC-C6CB404244FD}" presName="root" presStyleCnt="0">
        <dgm:presLayoutVars>
          <dgm:dir/>
          <dgm:resizeHandles val="exact"/>
        </dgm:presLayoutVars>
      </dgm:prSet>
      <dgm:spPr/>
    </dgm:pt>
    <dgm:pt modelId="{414E5A4C-C075-41E5-96BB-C352CC4ACC5F}" type="pres">
      <dgm:prSet presAssocID="{D4034476-8C3B-4DB6-B42C-28F7929BAFF5}" presName="compNode" presStyleCnt="0"/>
      <dgm:spPr/>
    </dgm:pt>
    <dgm:pt modelId="{E002335C-4F4C-428F-8462-766A242F60A2}" type="pres">
      <dgm:prSet presAssocID="{D4034476-8C3B-4DB6-B42C-28F7929BAFF5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redit card"/>
        </a:ext>
      </dgm:extLst>
    </dgm:pt>
    <dgm:pt modelId="{FC8EA0E7-2008-43EB-A3F7-943828245DFA}" type="pres">
      <dgm:prSet presAssocID="{D4034476-8C3B-4DB6-B42C-28F7929BAFF5}" presName="spaceRect" presStyleCnt="0"/>
      <dgm:spPr/>
    </dgm:pt>
    <dgm:pt modelId="{DD744856-0C39-4C92-8F01-7E923FC4056E}" type="pres">
      <dgm:prSet presAssocID="{D4034476-8C3B-4DB6-B42C-28F7929BAFF5}" presName="textRect" presStyleLbl="revTx" presStyleIdx="0" presStyleCnt="2">
        <dgm:presLayoutVars>
          <dgm:chMax val="1"/>
          <dgm:chPref val="1"/>
        </dgm:presLayoutVars>
      </dgm:prSet>
      <dgm:spPr/>
    </dgm:pt>
    <dgm:pt modelId="{DCFB1EDA-3183-4F54-82BD-A7D4886B46FB}" type="pres">
      <dgm:prSet presAssocID="{B767AE3E-25E3-4269-BC03-A17891D53089}" presName="sibTrans" presStyleCnt="0"/>
      <dgm:spPr/>
    </dgm:pt>
    <dgm:pt modelId="{251BDD7D-70B4-42AE-9E07-62386CDD347D}" type="pres">
      <dgm:prSet presAssocID="{3D9BC787-0CD9-4B1B-9BDE-4AE8FE2AAD9F}" presName="compNode" presStyleCnt="0"/>
      <dgm:spPr/>
    </dgm:pt>
    <dgm:pt modelId="{7D5E6506-6658-4709-AA12-31A33F3EF565}" type="pres">
      <dgm:prSet presAssocID="{3D9BC787-0CD9-4B1B-9BDE-4AE8FE2AAD9F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sk"/>
        </a:ext>
      </dgm:extLst>
    </dgm:pt>
    <dgm:pt modelId="{53596400-1760-47F5-81CB-CAF507DE47AB}" type="pres">
      <dgm:prSet presAssocID="{3D9BC787-0CD9-4B1B-9BDE-4AE8FE2AAD9F}" presName="spaceRect" presStyleCnt="0"/>
      <dgm:spPr/>
    </dgm:pt>
    <dgm:pt modelId="{D23750AD-5AC0-4179-8E8B-FA41EB6263BE}" type="pres">
      <dgm:prSet presAssocID="{3D9BC787-0CD9-4B1B-9BDE-4AE8FE2AAD9F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49FE8702-1348-423E-94E2-B5D1B967BEC8}" srcId="{FB4BE1CB-FA5D-419E-89EC-C6CB404244FD}" destId="{3D9BC787-0CD9-4B1B-9BDE-4AE8FE2AAD9F}" srcOrd="1" destOrd="0" parTransId="{046E2696-6A0F-46BD-AD53-D75D3C9337C6}" sibTransId="{D8D148F5-CA41-457C-9936-52D4E3A06CA2}"/>
    <dgm:cxn modelId="{782E9830-1B87-47EA-8153-994C3A777F51}" type="presOf" srcId="{FB4BE1CB-FA5D-419E-89EC-C6CB404244FD}" destId="{2E6B56E3-B554-4C00-952B-C487FD3DABC9}" srcOrd="0" destOrd="0" presId="urn:microsoft.com/office/officeart/2018/2/layout/IconLabelList"/>
    <dgm:cxn modelId="{4ED33640-0388-40ED-8231-D37267F49AFC}" type="presOf" srcId="{D4034476-8C3B-4DB6-B42C-28F7929BAFF5}" destId="{DD744856-0C39-4C92-8F01-7E923FC4056E}" srcOrd="0" destOrd="0" presId="urn:microsoft.com/office/officeart/2018/2/layout/IconLabelList"/>
    <dgm:cxn modelId="{54DC7169-C37D-46E3-85CB-7A3D9820B965}" srcId="{3D9BC787-0CD9-4B1B-9BDE-4AE8FE2AAD9F}" destId="{9964AA83-A18D-4516-A5AD-679201EA133E}" srcOrd="1" destOrd="0" parTransId="{DABBD937-4D64-48F9-B449-6AA70A7E8294}" sibTransId="{9D5186AF-0C8E-4DFC-B6D3-50EAC03AA859}"/>
    <dgm:cxn modelId="{4F55264C-827A-4692-B791-867185BB18AB}" type="presOf" srcId="{3D9BC787-0CD9-4B1B-9BDE-4AE8FE2AAD9F}" destId="{D23750AD-5AC0-4179-8E8B-FA41EB6263BE}" srcOrd="0" destOrd="0" presId="urn:microsoft.com/office/officeart/2018/2/layout/IconLabelList"/>
    <dgm:cxn modelId="{94732C93-B725-49F3-95E6-1388C42E4B58}" srcId="{3D9BC787-0CD9-4B1B-9BDE-4AE8FE2AAD9F}" destId="{B6405145-386D-4FC4-8F4B-A6B72EF39B1D}" srcOrd="2" destOrd="0" parTransId="{057A6DCC-19A1-49D0-89BD-59E85919D5B7}" sibTransId="{012FF38C-E058-448B-8A48-8FC16BFF25C0}"/>
    <dgm:cxn modelId="{D500D7AE-4E90-42AD-B193-31F085E81522}" srcId="{FB4BE1CB-FA5D-419E-89EC-C6CB404244FD}" destId="{D4034476-8C3B-4DB6-B42C-28F7929BAFF5}" srcOrd="0" destOrd="0" parTransId="{EAF3CE2E-DE9C-4930-AA42-1C6D16C4C6DC}" sibTransId="{B767AE3E-25E3-4269-BC03-A17891D53089}"/>
    <dgm:cxn modelId="{6B66DBBD-F66A-4CA2-9C0C-7BF76C074980}" srcId="{3D9BC787-0CD9-4B1B-9BDE-4AE8FE2AAD9F}" destId="{131ABB97-F757-4F68-A46E-0BE5F5BA7CB2}" srcOrd="0" destOrd="0" parTransId="{68ECEB34-0B99-4B21-A034-D194FF6B48C5}" sibTransId="{2BC7C1EC-A2A8-4C7F-9674-BC12E27BA41E}"/>
    <dgm:cxn modelId="{49C1B6D0-2332-436B-9A2D-B4F5DCE7D0EB}" type="presParOf" srcId="{2E6B56E3-B554-4C00-952B-C487FD3DABC9}" destId="{414E5A4C-C075-41E5-96BB-C352CC4ACC5F}" srcOrd="0" destOrd="0" presId="urn:microsoft.com/office/officeart/2018/2/layout/IconLabelList"/>
    <dgm:cxn modelId="{C06EA69D-01C2-43E5-8F85-439B06126F59}" type="presParOf" srcId="{414E5A4C-C075-41E5-96BB-C352CC4ACC5F}" destId="{E002335C-4F4C-428F-8462-766A242F60A2}" srcOrd="0" destOrd="0" presId="urn:microsoft.com/office/officeart/2018/2/layout/IconLabelList"/>
    <dgm:cxn modelId="{B06B06C8-2AEA-440F-8BB8-37E8806063D0}" type="presParOf" srcId="{414E5A4C-C075-41E5-96BB-C352CC4ACC5F}" destId="{FC8EA0E7-2008-43EB-A3F7-943828245DFA}" srcOrd="1" destOrd="0" presId="urn:microsoft.com/office/officeart/2018/2/layout/IconLabelList"/>
    <dgm:cxn modelId="{71F8B606-F468-48AD-BA46-F228ED474DD1}" type="presParOf" srcId="{414E5A4C-C075-41E5-96BB-C352CC4ACC5F}" destId="{DD744856-0C39-4C92-8F01-7E923FC4056E}" srcOrd="2" destOrd="0" presId="urn:microsoft.com/office/officeart/2018/2/layout/IconLabelList"/>
    <dgm:cxn modelId="{7263D23E-35AA-4C8B-85C1-0C6EA194BCDB}" type="presParOf" srcId="{2E6B56E3-B554-4C00-952B-C487FD3DABC9}" destId="{DCFB1EDA-3183-4F54-82BD-A7D4886B46FB}" srcOrd="1" destOrd="0" presId="urn:microsoft.com/office/officeart/2018/2/layout/IconLabelList"/>
    <dgm:cxn modelId="{2484CCFF-628E-45DF-91A7-D94B30A33880}" type="presParOf" srcId="{2E6B56E3-B554-4C00-952B-C487FD3DABC9}" destId="{251BDD7D-70B4-42AE-9E07-62386CDD347D}" srcOrd="2" destOrd="0" presId="urn:microsoft.com/office/officeart/2018/2/layout/IconLabelList"/>
    <dgm:cxn modelId="{4DE99A1E-35FD-4EF1-8915-A329FD2A15A7}" type="presParOf" srcId="{251BDD7D-70B4-42AE-9E07-62386CDD347D}" destId="{7D5E6506-6658-4709-AA12-31A33F3EF565}" srcOrd="0" destOrd="0" presId="urn:microsoft.com/office/officeart/2018/2/layout/IconLabelList"/>
    <dgm:cxn modelId="{83C3C3D6-4DA5-4B5F-ABB7-21235EEF8FC2}" type="presParOf" srcId="{251BDD7D-70B4-42AE-9E07-62386CDD347D}" destId="{53596400-1760-47F5-81CB-CAF507DE47AB}" srcOrd="1" destOrd="0" presId="urn:microsoft.com/office/officeart/2018/2/layout/IconLabelList"/>
    <dgm:cxn modelId="{82F1971D-C2D1-42EA-8C50-053884752594}" type="presParOf" srcId="{251BDD7D-70B4-42AE-9E07-62386CDD347D}" destId="{D23750AD-5AC0-4179-8E8B-FA41EB6263BE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8BD482-3D89-410B-AB71-2FE10E702B00}">
      <dsp:nvSpPr>
        <dsp:cNvPr id="0" name=""/>
        <dsp:cNvSpPr/>
      </dsp:nvSpPr>
      <dsp:spPr>
        <a:xfrm>
          <a:off x="613109" y="1057143"/>
          <a:ext cx="962257" cy="96225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11B641-3F41-49E5-B2A4-50BC809C26C4}">
      <dsp:nvSpPr>
        <dsp:cNvPr id="0" name=""/>
        <dsp:cNvSpPr/>
      </dsp:nvSpPr>
      <dsp:spPr>
        <a:xfrm>
          <a:off x="25063" y="2316338"/>
          <a:ext cx="21383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Rising chargebacks in card‑not‑present (CNP) channel</a:t>
          </a:r>
        </a:p>
      </dsp:txBody>
      <dsp:txXfrm>
        <a:off x="25063" y="2316338"/>
        <a:ext cx="2138350" cy="720000"/>
      </dsp:txXfrm>
    </dsp:sp>
    <dsp:sp modelId="{C5E44ECA-C71D-4D86-ABFA-419E61B4129C}">
      <dsp:nvSpPr>
        <dsp:cNvPr id="0" name=""/>
        <dsp:cNvSpPr/>
      </dsp:nvSpPr>
      <dsp:spPr>
        <a:xfrm>
          <a:off x="3125671" y="1057143"/>
          <a:ext cx="962257" cy="96225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E210DB-7192-4FE8-970D-358C92D51A0B}">
      <dsp:nvSpPr>
        <dsp:cNvPr id="0" name=""/>
        <dsp:cNvSpPr/>
      </dsp:nvSpPr>
      <dsp:spPr>
        <a:xfrm>
          <a:off x="2537625" y="2316338"/>
          <a:ext cx="21383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Business goal: reduce fraud losses by ≥20% while keeping FPR ≤1% and alert volume within Ops capacity</a:t>
          </a:r>
        </a:p>
      </dsp:txBody>
      <dsp:txXfrm>
        <a:off x="2537625" y="2316338"/>
        <a:ext cx="2138350" cy="720000"/>
      </dsp:txXfrm>
    </dsp:sp>
    <dsp:sp modelId="{DFB9DDE4-AAED-4332-A8BC-A6358F10D3EE}">
      <dsp:nvSpPr>
        <dsp:cNvPr id="0" name=""/>
        <dsp:cNvSpPr/>
      </dsp:nvSpPr>
      <dsp:spPr>
        <a:xfrm>
          <a:off x="5638232" y="1057143"/>
          <a:ext cx="962257" cy="96225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C677BC-E28D-428F-82FE-8DC05F885A03}">
      <dsp:nvSpPr>
        <dsp:cNvPr id="0" name=""/>
        <dsp:cNvSpPr/>
      </dsp:nvSpPr>
      <dsp:spPr>
        <a:xfrm>
          <a:off x="5050186" y="2316338"/>
          <a:ext cx="21383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ML goal: real‑time fraud scoring + threshold policy optimized for Expected Value (₱)</a:t>
          </a:r>
        </a:p>
      </dsp:txBody>
      <dsp:txXfrm>
        <a:off x="5050186" y="2316338"/>
        <a:ext cx="213835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02335C-4F4C-428F-8462-766A242F60A2}">
      <dsp:nvSpPr>
        <dsp:cNvPr id="0" name=""/>
        <dsp:cNvSpPr/>
      </dsp:nvSpPr>
      <dsp:spPr>
        <a:xfrm>
          <a:off x="815925" y="748783"/>
          <a:ext cx="1306125" cy="13061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744856-0C39-4C92-8F01-7E923FC4056E}">
      <dsp:nvSpPr>
        <dsp:cNvPr id="0" name=""/>
        <dsp:cNvSpPr/>
      </dsp:nvSpPr>
      <dsp:spPr>
        <a:xfrm>
          <a:off x="17737" y="2412653"/>
          <a:ext cx="2902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Dataset: Kaggle credit card transactions</a:t>
          </a:r>
        </a:p>
      </dsp:txBody>
      <dsp:txXfrm>
        <a:off x="17737" y="2412653"/>
        <a:ext cx="2902500" cy="720000"/>
      </dsp:txXfrm>
    </dsp:sp>
    <dsp:sp modelId="{7D5E6506-6658-4709-AA12-31A33F3EF565}">
      <dsp:nvSpPr>
        <dsp:cNvPr id="0" name=""/>
        <dsp:cNvSpPr/>
      </dsp:nvSpPr>
      <dsp:spPr>
        <a:xfrm>
          <a:off x="4226362" y="748783"/>
          <a:ext cx="1306125" cy="13061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3750AD-5AC0-4179-8E8B-FA41EB6263BE}">
      <dsp:nvSpPr>
        <dsp:cNvPr id="0" name=""/>
        <dsp:cNvSpPr/>
      </dsp:nvSpPr>
      <dsp:spPr>
        <a:xfrm>
          <a:off x="3428175" y="2412653"/>
          <a:ext cx="2902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H" sz="2000" kern="1200"/>
            <a:t>Creditcard.csv (saved and open with MS Excel)</a:t>
          </a:r>
          <a:endParaRPr lang="en-US" sz="2000" kern="1200"/>
        </a:p>
      </dsp:txBody>
      <dsp:txXfrm>
        <a:off x="3428175" y="2412653"/>
        <a:ext cx="29025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3DA814-6990-4D01-A1F9-FC71D77B9618}" type="datetimeFigureOut">
              <a:rPr lang="en-PH" smtClean="0"/>
              <a:t>22/12/2025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DE361F-5D8F-49E5-B360-E400487823F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79893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DE361F-5D8F-49E5-B360-E400487823FF}" type="slidenum">
              <a:rPr lang="en-PH" smtClean="0"/>
              <a:t>24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2236928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H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H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H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H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H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H"/>
            </a:p>
          </p:txBody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H"/>
            </a:p>
          </p:txBody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H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655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47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369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046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098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754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188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743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8091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862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645505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5582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985269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2651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3366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000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H"/>
            </a:p>
          </p:txBody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H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H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H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H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H"/>
            </a:p>
          </p:txBody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H"/>
            </a:p>
          </p:txBody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H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453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2" r:id="rId1"/>
    <p:sldLayoutId id="2147483783" r:id="rId2"/>
    <p:sldLayoutId id="2147483784" r:id="rId3"/>
    <p:sldLayoutId id="2147483785" r:id="rId4"/>
    <p:sldLayoutId id="2147483786" r:id="rId5"/>
    <p:sldLayoutId id="2147483787" r:id="rId6"/>
    <p:sldLayoutId id="2147483788" r:id="rId7"/>
    <p:sldLayoutId id="2147483789" r:id="rId8"/>
    <p:sldLayoutId id="2147483790" r:id="rId9"/>
    <p:sldLayoutId id="2147483791" r:id="rId10"/>
    <p:sldLayoutId id="2147483792" r:id="rId11"/>
    <p:sldLayoutId id="2147483793" r:id="rId12"/>
    <p:sldLayoutId id="2147483794" r:id="rId13"/>
    <p:sldLayoutId id="2147483795" r:id="rId14"/>
    <p:sldLayoutId id="2147483796" r:id="rId15"/>
    <p:sldLayoutId id="214748379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1141" y="1261331"/>
            <a:ext cx="2623174" cy="3002662"/>
          </a:xfrm>
        </p:spPr>
        <p:txBody>
          <a:bodyPr>
            <a:normAutofit/>
          </a:bodyPr>
          <a:lstStyle/>
          <a:p>
            <a:pPr algn="l"/>
            <a:r>
              <a:rPr lang="en-US" sz="3500" dirty="0"/>
              <a:t>Retail Bank CNP Fraud Detection — Technical Deck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4685F2B-D401-8F7F-C59F-D72E29B610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2353672"/>
              </p:ext>
            </p:extLst>
          </p:nvPr>
        </p:nvGraphicFramePr>
        <p:xfrm>
          <a:off x="666452" y="1963815"/>
          <a:ext cx="3665515" cy="2930371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665515">
                  <a:extLst>
                    <a:ext uri="{9D8B030D-6E8A-4147-A177-3AD203B41FA5}">
                      <a16:colId xmlns:a16="http://schemas.microsoft.com/office/drawing/2014/main" val="2513158765"/>
                    </a:ext>
                  </a:extLst>
                </a:gridCol>
              </a:tblGrid>
              <a:tr h="2322323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600" b="1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Presented by:</a:t>
                      </a:r>
                      <a:br>
                        <a:rPr lang="en-US" sz="16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n-US" sz="16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Patrick Evan G Arriola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endParaRPr lang="en-US" sz="1600" b="0" i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600" b="1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Date:</a:t>
                      </a:r>
                      <a:br>
                        <a:rPr lang="en-US" sz="16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n-US" sz="16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Dec 24, 2025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endParaRPr lang="en-US" sz="1600" b="0" i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600" b="1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Repository:</a:t>
                      </a:r>
                      <a:br>
                        <a:rPr lang="en-US" sz="16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n-US" sz="16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https://github.com/patrickearriola-max/Pat-Arriola-Fraud-Capstone</a:t>
                      </a:r>
                    </a:p>
                  </a:txBody>
                  <a:tcPr marL="266169" marR="138408" marT="138408" marB="13840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436696"/>
                  </a:ext>
                </a:extLst>
              </a:tr>
              <a:tr h="608048">
                <a:tc>
                  <a:txBody>
                    <a:bodyPr/>
                    <a:lstStyle/>
                    <a:p>
                      <a:endParaRPr lang="en-PH" sz="16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66169" marR="138408" marT="138408" marB="13840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21174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AF02D-1D3A-7BD0-AD39-3848263AA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CC2F8-0E34-F848-B885-CD4AEB03B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Problem &amp; Methodology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2017A7-8905-3A9C-F851-67BA0D024F2A}"/>
              </a:ext>
            </a:extLst>
          </p:cNvPr>
          <p:cNvSpPr txBox="1"/>
          <p:nvPr/>
        </p:nvSpPr>
        <p:spPr>
          <a:xfrm>
            <a:off x="457199" y="1280160"/>
            <a:ext cx="683622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D78C8"/>
                </a:solidFill>
              </a:defRPr>
            </a:pPr>
            <a:r>
              <a:rPr dirty="0"/>
              <a:t>The problem</a:t>
            </a:r>
            <a:endParaRPr lang="en-US" dirty="0"/>
          </a:p>
          <a:p>
            <a:pPr lvl="1">
              <a:defRPr sz="1600"/>
            </a:pPr>
            <a:r>
              <a:rPr lang="en-US" sz="1200" dirty="0"/>
              <a:t>Online payments are driving more chargebacks. We need to stop more fraud without slowing good customers or overloading investigators.</a:t>
            </a:r>
          </a:p>
          <a:p>
            <a:pPr lvl="1">
              <a:defRPr sz="1600"/>
            </a:pPr>
            <a:r>
              <a:rPr sz="1200" dirty="0"/>
              <a:t>Targets: cut fraud losses by ≥20%, keep false alarms ≤1%, start with ~</a:t>
            </a:r>
            <a:r>
              <a:rPr lang="en-PH" sz="1200" dirty="0"/>
              <a:t>65-100</a:t>
            </a:r>
            <a:r>
              <a:rPr sz="1200" dirty="0"/>
              <a:t> reviews/day.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6D4A4D-BACD-2F0D-94CD-762491AC8A4F}"/>
              </a:ext>
            </a:extLst>
          </p:cNvPr>
          <p:cNvSpPr txBox="1"/>
          <p:nvPr/>
        </p:nvSpPr>
        <p:spPr>
          <a:xfrm>
            <a:off x="457199" y="2246801"/>
            <a:ext cx="6836229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D78C8"/>
                </a:solidFill>
              </a:defRPr>
            </a:pPr>
            <a:r>
              <a:rPr dirty="0"/>
              <a:t>What we built</a:t>
            </a:r>
          </a:p>
          <a:p>
            <a:pPr lvl="1">
              <a:defRPr sz="1600"/>
            </a:pPr>
            <a:r>
              <a:rPr sz="1200" dirty="0"/>
              <a:t>A fast model that </a:t>
            </a:r>
            <a:r>
              <a:rPr lang="en-US" sz="1200" dirty="0"/>
              <a:t>lightweight models suitable for real-time scoring</a:t>
            </a:r>
            <a:r>
              <a:rPr sz="1200" dirty="0"/>
              <a:t>.</a:t>
            </a:r>
          </a:p>
          <a:p>
            <a:pPr lvl="1">
              <a:defRPr sz="1600"/>
            </a:pPr>
            <a:r>
              <a:rPr sz="1200" dirty="0"/>
              <a:t>Trained on ~285k historical transactions; fraud ≈0.17%.</a:t>
            </a:r>
          </a:p>
          <a:p>
            <a:pPr lvl="1">
              <a:defRPr sz="1600"/>
            </a:pPr>
            <a:r>
              <a:rPr sz="1200" dirty="0"/>
              <a:t>Simple, strong signals: amount (log + robust scale), time-of-day (sin/cos), plus anonymized risk features.</a:t>
            </a:r>
          </a:p>
          <a:p>
            <a:pPr lvl="1">
              <a:defRPr sz="1600"/>
            </a:pPr>
            <a:r>
              <a:rPr sz="1200" dirty="0"/>
              <a:t>Tested like it runs in real life: time‑ordered train/validate/test to avoid peeking into the future.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1D990B-F8B1-3AB7-E8B3-E11E9C000A43}"/>
              </a:ext>
            </a:extLst>
          </p:cNvPr>
          <p:cNvSpPr txBox="1"/>
          <p:nvPr/>
        </p:nvSpPr>
        <p:spPr>
          <a:xfrm>
            <a:off x="457199" y="3744684"/>
            <a:ext cx="683622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D78C8"/>
                </a:solidFill>
              </a:defRPr>
            </a:pPr>
            <a:r>
              <a:rPr dirty="0"/>
              <a:t>How decisions are made</a:t>
            </a:r>
            <a:endParaRPr lang="en-US" dirty="0"/>
          </a:p>
          <a:p>
            <a:pPr lvl="1">
              <a:defRPr sz="1600"/>
            </a:pPr>
            <a:r>
              <a:rPr lang="en-US" sz="1200" dirty="0"/>
              <a:t>Every transaction gets a risk score from 0 (safe) to 1 (risky).</a:t>
            </a:r>
          </a:p>
          <a:p>
            <a:pPr lvl="1">
              <a:defRPr sz="1600"/>
            </a:pPr>
            <a:r>
              <a:rPr sz="1200" dirty="0"/>
              <a:t>We set an alert level (threshold) that gives the best money outcome.</a:t>
            </a:r>
          </a:p>
          <a:p>
            <a:pPr lvl="1">
              <a:defRPr sz="1600"/>
            </a:pPr>
            <a:r>
              <a:rPr sz="1200" dirty="0"/>
              <a:t>Guardrails: false‑positive rate ≤1% or a fixed alert budget </a:t>
            </a:r>
            <a:endParaRPr lang="en-PH" sz="1200" dirty="0"/>
          </a:p>
          <a:p>
            <a:pPr lvl="1">
              <a:defRPr sz="1600"/>
            </a:pPr>
            <a:r>
              <a:rPr sz="1200" dirty="0"/>
              <a:t>Value model: each fraud caught ≈ ₱7,500 saved; each review costs ₱80; each false alarm costs ₱150.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EAFF92-A13B-A036-EAD1-E4560D0F092D}"/>
              </a:ext>
            </a:extLst>
          </p:cNvPr>
          <p:cNvSpPr txBox="1"/>
          <p:nvPr/>
        </p:nvSpPr>
        <p:spPr>
          <a:xfrm>
            <a:off x="457198" y="5079009"/>
            <a:ext cx="6836229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D78C8"/>
                </a:solidFill>
              </a:defRPr>
            </a:pPr>
            <a:r>
              <a:rPr dirty="0"/>
              <a:t>Trust &amp; upkeep</a:t>
            </a:r>
          </a:p>
          <a:p>
            <a:pPr lvl="1">
              <a:defRPr sz="1600"/>
            </a:pPr>
            <a:r>
              <a:rPr sz="1200" dirty="0"/>
              <a:t>Explainability checks show which signals drive alerts; we review real TP/FP examples.</a:t>
            </a:r>
          </a:p>
          <a:p>
            <a:pPr lvl="1">
              <a:defRPr sz="1600"/>
            </a:pPr>
            <a:r>
              <a:rPr sz="1200" dirty="0"/>
              <a:t>Fairness by slices (amount bands, hour‑of‑day); route or tighten where precision dips.</a:t>
            </a:r>
          </a:p>
          <a:p>
            <a:pPr lvl="1">
              <a:defRPr sz="1600"/>
            </a:pPr>
            <a:r>
              <a:rPr lang="en-US" sz="1200" dirty="0"/>
              <a:t>Plan: PSI monitoring + monthly recalibration</a:t>
            </a:r>
            <a:r>
              <a:rPr sz="1200" dirty="0"/>
              <a:t>.</a:t>
            </a:r>
          </a:p>
          <a:p>
            <a:pPr lvl="1">
              <a:defRPr sz="1600"/>
            </a:pPr>
            <a:r>
              <a:rPr sz="1200" dirty="0"/>
              <a:t>Everything is versioned so results can be re‑run on demand.</a:t>
            </a:r>
          </a:p>
        </p:txBody>
      </p:sp>
    </p:spTree>
    <p:extLst>
      <p:ext uri="{BB962C8B-B14F-4D97-AF65-F5344CB8AC3E}">
        <p14:creationId xmlns:p14="http://schemas.microsoft.com/office/powerpoint/2010/main" val="4116334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199" y="609600"/>
            <a:ext cx="7648121" cy="1099457"/>
          </a:xfrm>
        </p:spPr>
        <p:txBody>
          <a:bodyPr>
            <a:normAutofit/>
          </a:bodyPr>
          <a:lstStyle/>
          <a:p>
            <a:r>
              <a:rPr lang="en-PH" dirty="0"/>
              <a:t>I.</a:t>
            </a:r>
            <a:r>
              <a:rPr dirty="0"/>
              <a:t>Problem Fram</a:t>
            </a:r>
            <a:r>
              <a:rPr lang="en-PH" dirty="0"/>
              <a:t>e</a:t>
            </a:r>
            <a:endParaRPr dirty="0"/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C4244C72-5AFB-B135-F97B-514BB8C28A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01841194"/>
              </p:ext>
            </p:extLst>
          </p:nvPr>
        </p:nvGraphicFramePr>
        <p:xfrm>
          <a:off x="965199" y="1948543"/>
          <a:ext cx="7213600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06C2F7-0735-3614-3BED-390B7D540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Periodic table of elements">
            <a:extLst>
              <a:ext uri="{FF2B5EF4-FFF2-40B4-BE49-F238E27FC236}">
                <a16:creationId xmlns:a16="http://schemas.microsoft.com/office/drawing/2014/main" id="{90C2F50F-8480-3E85-BAB9-ACC3CA8B13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283" r="20103"/>
          <a:stretch>
            <a:fillRect/>
          </a:stretch>
        </p:blipFill>
        <p:spPr>
          <a:xfrm>
            <a:off x="3202390" y="-1"/>
            <a:ext cx="5941610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FC88617-A7F8-5AF8-16E6-ACF63C9EE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999" y="609600"/>
            <a:ext cx="2888343" cy="1320800"/>
          </a:xfrm>
        </p:spPr>
        <p:txBody>
          <a:bodyPr>
            <a:normAutofit fontScale="90000"/>
          </a:bodyPr>
          <a:lstStyle/>
          <a:p>
            <a:r>
              <a:rPr dirty="0"/>
              <a:t>Problem Fram</a:t>
            </a:r>
            <a:r>
              <a:rPr lang="en-PH" dirty="0"/>
              <a:t>e Context</a:t>
            </a:r>
            <a:endParaRPr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2E315B48-313C-55A6-353C-97C5A21EE21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08000" y="2160589"/>
            <a:ext cx="2888342" cy="388077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fontScale="92500"/>
          </a:bodyPr>
          <a:lstStyle/>
          <a:p>
            <a:pPr marL="0" lvl="0" indent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</a:pPr>
            <a:r>
              <a:rPr kumimoji="0" lang="en-US" altLang="en-US" sz="9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Context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</a:t>
            </a:r>
            <a:r>
              <a:rPr lang="en-US" sz="900" dirty="0"/>
              <a:t>Card-not-present (CNP) e-commerce channel, PH region; Ops capacity ≈ </a:t>
            </a:r>
            <a:r>
              <a:rPr lang="en-US" sz="900" b="1" dirty="0"/>
              <a:t>500 alerts/day</a:t>
            </a:r>
            <a:r>
              <a:rPr lang="en-US" sz="900" dirty="0"/>
              <a:t>.</a:t>
            </a:r>
          </a:p>
          <a:p>
            <a:pPr marL="0" lvl="0" indent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</a:pPr>
            <a:r>
              <a:rPr kumimoji="0" lang="en-US" altLang="en-US" sz="9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Objective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</a:t>
            </a:r>
            <a:r>
              <a:rPr lang="en-US" sz="900" dirty="0"/>
              <a:t>Reduce fraud loss </a:t>
            </a:r>
            <a:r>
              <a:rPr lang="en-US" sz="900" b="1" dirty="0"/>
              <a:t>≥20%</a:t>
            </a:r>
            <a:r>
              <a:rPr lang="en-US" sz="900" dirty="0"/>
              <a:t> while keeping </a:t>
            </a:r>
            <a:r>
              <a:rPr lang="en-US" sz="900" b="1" dirty="0"/>
              <a:t>FPR ≤1%</a:t>
            </a:r>
            <a:r>
              <a:rPr lang="en-US" sz="900" dirty="0"/>
              <a:t> to limit customer friction and investigator load.</a:t>
            </a:r>
            <a:endParaRPr kumimoji="0" lang="en-US" altLang="en-US" sz="9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</a:pPr>
            <a:r>
              <a:rPr kumimoji="0" lang="en-US" altLang="en-US" sz="9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Task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</a:t>
            </a:r>
            <a:r>
              <a:rPr lang="en-US" sz="900" b="1" dirty="0"/>
              <a:t>Supervised fraud classification</a:t>
            </a:r>
            <a:r>
              <a:rPr lang="en-US" sz="900" dirty="0"/>
              <a:t> producing a 0–1 score per transaction for alerting (probability-based anomaly scoring). </a:t>
            </a:r>
            <a:r>
              <a:rPr lang="en-US" sz="900" i="1" dirty="0"/>
              <a:t>(Unsupervised baseline optional, future work.)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0" lvl="0" indent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</a:pPr>
            <a:r>
              <a:rPr kumimoji="0" lang="en-US" altLang="en-US" sz="9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Data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</a:t>
            </a:r>
            <a:r>
              <a:rPr lang="en-PH" sz="900" dirty="0"/>
              <a:t>Historical transactions with a </a:t>
            </a:r>
            <a:r>
              <a:rPr lang="en-PH" sz="900" b="1" dirty="0"/>
              <a:t>temporal split 80/10/10</a:t>
            </a:r>
            <a:r>
              <a:rPr lang="en-PH" sz="900" dirty="0"/>
              <a:t> (ordered by </a:t>
            </a:r>
            <a:r>
              <a:rPr lang="en-PH" sz="900" i="1" dirty="0"/>
              <a:t>Time</a:t>
            </a:r>
            <a:r>
              <a:rPr lang="en-PH" sz="900" dirty="0"/>
              <a:t>). </a:t>
            </a:r>
            <a:r>
              <a:rPr lang="en-PH" sz="900" i="1" dirty="0"/>
              <a:t>Capstone uses Kaggle “creditcard.csv” (≈284k </a:t>
            </a:r>
            <a:r>
              <a:rPr lang="en-PH" sz="900" i="1" dirty="0" err="1"/>
              <a:t>txn</a:t>
            </a:r>
            <a:r>
              <a:rPr lang="en-PH" sz="900" i="1" dirty="0"/>
              <a:t>, fraud ≈0.17%) as a proxy dataset.</a:t>
            </a:r>
            <a:endParaRPr kumimoji="0" lang="en-US" altLang="en-US" sz="9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</a:pPr>
            <a:r>
              <a:rPr kumimoji="0" lang="en-US" altLang="en-US" sz="9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Metrics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</a:t>
            </a:r>
            <a:r>
              <a:rPr lang="en-US" sz="900" b="1" dirty="0"/>
              <a:t>PR-AUC</a:t>
            </a:r>
            <a:r>
              <a:rPr lang="en-US" sz="900" dirty="0"/>
              <a:t>, </a:t>
            </a:r>
            <a:r>
              <a:rPr lang="en-US" sz="900" b="1" dirty="0" err="1"/>
              <a:t>Precision@K</a:t>
            </a:r>
            <a:r>
              <a:rPr lang="en-US" sz="900" dirty="0"/>
              <a:t>, </a:t>
            </a:r>
            <a:r>
              <a:rPr lang="en-US" sz="900" b="1" dirty="0" err="1"/>
              <a:t>Recall@K</a:t>
            </a:r>
            <a:r>
              <a:rPr lang="en-US" sz="900" dirty="0"/>
              <a:t>, </a:t>
            </a:r>
            <a:r>
              <a:rPr lang="en-US" sz="900" b="1" dirty="0"/>
              <a:t>FPR</a:t>
            </a:r>
            <a:r>
              <a:rPr lang="en-US" sz="900" dirty="0"/>
              <a:t>; business KPI = </a:t>
            </a:r>
            <a:r>
              <a:rPr lang="en-US" sz="900" b="1" dirty="0"/>
              <a:t>Expected Value (EV)</a:t>
            </a:r>
            <a:r>
              <a:rPr lang="en-US" sz="900" dirty="0"/>
              <a:t>. </a:t>
            </a:r>
          </a:p>
          <a:p>
            <a:pPr marL="0" lvl="0" indent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</a:pPr>
            <a:r>
              <a:rPr lang="en-PH" sz="900" b="1" dirty="0"/>
              <a:t>Decision policy &amp; guardrails:</a:t>
            </a:r>
            <a:r>
              <a:rPr lang="en-PH" sz="900" dirty="0"/>
              <a:t> Choose threshold </a:t>
            </a:r>
            <a:r>
              <a:rPr lang="el-GR" sz="900" b="1" dirty="0"/>
              <a:t>τ</a:t>
            </a:r>
            <a:r>
              <a:rPr lang="el-GR" sz="900" dirty="0"/>
              <a:t> </a:t>
            </a:r>
            <a:r>
              <a:rPr lang="en-PH" sz="900" dirty="0"/>
              <a:t>that </a:t>
            </a:r>
            <a:r>
              <a:rPr lang="en-PH" sz="900" b="1" dirty="0"/>
              <a:t>maximizes EV</a:t>
            </a:r>
            <a:r>
              <a:rPr lang="en-PH" sz="900" dirty="0"/>
              <a:t> subject to </a:t>
            </a:r>
            <a:r>
              <a:rPr lang="en-PH" sz="900" b="1" dirty="0"/>
              <a:t>FPR cap (≤1%)</a:t>
            </a:r>
            <a:r>
              <a:rPr lang="en-PH" sz="900" dirty="0"/>
              <a:t> or an alert budget </a:t>
            </a:r>
            <a:r>
              <a:rPr lang="en-PH" sz="900" b="1" dirty="0"/>
              <a:t>K</a:t>
            </a:r>
            <a:r>
              <a:rPr lang="en-PH" sz="900" dirty="0"/>
              <a:t>. </a:t>
            </a:r>
            <a:r>
              <a:rPr lang="en-PH" sz="900" b="1" dirty="0"/>
              <a:t>Cost model:</a:t>
            </a:r>
            <a:r>
              <a:rPr lang="en-PH" sz="900" dirty="0"/>
              <a:t> ₱7,500 per fraud prevented; ₱80 per review; ₱150 per false positive. </a:t>
            </a:r>
          </a:p>
          <a:p>
            <a:pPr marL="0" lvl="0" indent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</a:pPr>
            <a:r>
              <a:rPr kumimoji="0" lang="en-US" altLang="en-US" sz="9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Constraints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  <a:r>
              <a:rPr lang="en-US" sz="900" dirty="0"/>
              <a:t> Inference latency target </a:t>
            </a:r>
            <a:r>
              <a:rPr lang="en-US" sz="900" b="1" dirty="0"/>
              <a:t>≤300 </a:t>
            </a:r>
            <a:r>
              <a:rPr lang="en-US" sz="900" b="1" dirty="0" err="1"/>
              <a:t>ms</a:t>
            </a:r>
            <a:r>
              <a:rPr lang="en-US" sz="900" b="1" dirty="0"/>
              <a:t>/</a:t>
            </a:r>
            <a:r>
              <a:rPr lang="en-US" sz="900" b="1" dirty="0" err="1"/>
              <a:t>txn</a:t>
            </a:r>
            <a:r>
              <a:rPr lang="en-US" sz="900" dirty="0"/>
              <a:t>; no post-transaction/PII features (leakage/ privacy). </a:t>
            </a:r>
          </a:p>
          <a:p>
            <a:pPr marL="0" lvl="0" indent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</a:pPr>
            <a:r>
              <a:rPr kumimoji="0" lang="en-US" altLang="en-US" sz="9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Risks &amp; mitigations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</a:t>
            </a:r>
            <a:r>
              <a:rPr lang="en-US" sz="900" dirty="0"/>
              <a:t>Behavior drift → PSI monitoring + monthly recalibration; extreme imbalance → PR-focused evaluation/thresholding; fairness checks by </a:t>
            </a:r>
            <a:r>
              <a:rPr lang="en-US" sz="900" b="1" dirty="0"/>
              <a:t>amount/hour</a:t>
            </a:r>
            <a:r>
              <a:rPr lang="en-US" sz="900" dirty="0"/>
              <a:t> with routing/threshold tweaks if needed.</a:t>
            </a:r>
          </a:p>
          <a:p>
            <a:pPr marL="0" lvl="0" indent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</a:pPr>
            <a:r>
              <a:rPr lang="en-US" sz="900" dirty="0"/>
              <a:t>At FPR ≈ 0.17% on TEST: Alerts=65 (TEST window), Precision ≈ 0.246, Recall ≈ 0.727, EV ≈ ₱107,450 (TEST window).</a:t>
            </a:r>
            <a:endParaRPr kumimoji="0" lang="en-US" altLang="en-US" sz="90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29646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II.</a:t>
            </a:r>
            <a:r>
              <a:rPr dirty="0"/>
              <a:t> Data &amp; Labels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E9306C12-531E-5D84-E489-95186400882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09600" y="2160588"/>
          <a:ext cx="6348413" cy="3881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5A5A"/>
                </a:solidFill>
              </a:defRPr>
            </a:pPr>
            <a:r>
              <a:rPr dirty="0"/>
              <a:t>See reports/data_dictionary.csv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4582D-F231-11A3-9747-C144B6948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70DC3-CB17-4A2A-D364-164AF4FA4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/>
              <a:t>Data &amp; Labels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0E29F3-B6DD-D495-7FCA-089C1E54A8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387697"/>
            <a:ext cx="6347714" cy="3880773"/>
          </a:xfrm>
        </p:spPr>
        <p:txBody>
          <a:bodyPr/>
          <a:lstStyle/>
          <a:p>
            <a:r>
              <a:rPr lang="en-US" dirty="0"/>
              <a:t>Temporal split: 80% train / 10% validation / 10% test (ordered by Time)</a:t>
            </a:r>
          </a:p>
          <a:p>
            <a:r>
              <a:rPr lang="en-US" dirty="0"/>
              <a:t>Features: V1–V28 (anonymized PCA‑like) + engineered </a:t>
            </a:r>
            <a:r>
              <a:rPr lang="en-US" dirty="0" err="1"/>
              <a:t>Amount_log</a:t>
            </a:r>
            <a:r>
              <a:rPr lang="en-US" dirty="0"/>
              <a:t>, </a:t>
            </a:r>
            <a:r>
              <a:rPr lang="en-US" dirty="0" err="1"/>
              <a:t>Amount_rz</a:t>
            </a:r>
            <a:r>
              <a:rPr lang="en-US" dirty="0"/>
              <a:t>, </a:t>
            </a:r>
            <a:r>
              <a:rPr lang="en-US" dirty="0" err="1"/>
              <a:t>Time_sin</a:t>
            </a:r>
            <a:r>
              <a:rPr lang="en-US" dirty="0"/>
              <a:t>, </a:t>
            </a:r>
            <a:r>
              <a:rPr lang="en-US" dirty="0" err="1"/>
              <a:t>Time_cos</a:t>
            </a:r>
            <a:endParaRPr lang="en-US" dirty="0"/>
          </a:p>
          <a:p>
            <a:r>
              <a:rPr lang="en-US" dirty="0"/>
              <a:t>Target: Class (1=fraud, 0=legit)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EF4D4E-4CDF-2C3C-AA6E-5A4F91F5DE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7998" y="3320389"/>
            <a:ext cx="3307918" cy="1691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7504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III.</a:t>
            </a:r>
            <a:r>
              <a:rPr dirty="0"/>
              <a:t> EDA &amp;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Missingness ≈ 0%; severe class imbalance</a:t>
            </a:r>
          </a:p>
          <a:p>
            <a:r>
              <a:rPr dirty="0"/>
              <a:t>Amount rob</a:t>
            </a:r>
            <a:r>
              <a:rPr lang="en-PH" dirty="0"/>
              <a:t>us</a:t>
            </a:r>
            <a:r>
              <a:rPr dirty="0" err="1"/>
              <a:t>tization</a:t>
            </a:r>
            <a:r>
              <a:rPr dirty="0"/>
              <a:t> (IQR scaling) + log transform; cyclic time encoding (sin/cos)</a:t>
            </a:r>
          </a:p>
          <a:p>
            <a:r>
              <a:rPr dirty="0"/>
              <a:t>Leakage controls: no post‑transaction fields; temporal validation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F8688-438F-2296-2321-D7E89DC6C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0F6E1-AF41-8517-6D4F-C4E0F9BE6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EDA &amp;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858B36-3C68-CB35-06C1-8553590ECA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We had ~0% missing data but extreme class imbalance (fraud ≈0.17%), so the challenge was signal rarity, not data quality. We stabilized Amount using IQR scaling and a log transform, and captured time-of-day patterns with sin/cos encodings. Validation used an 80/10/10 temporal split (ordered by </a:t>
            </a:r>
            <a:r>
              <a:rPr lang="en-US" i="1" dirty="0"/>
              <a:t>Time</a:t>
            </a:r>
            <a:r>
              <a:rPr lang="en-US" dirty="0"/>
              <a:t>) to avoid look-ahead. We avoided post-transaction artifacts to prevent leakage. Net: clean, well-scaled, time-aware features and production-like validation, so later metrics reflect real operating conditions, not training shortcuts.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781571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IV.</a:t>
            </a:r>
            <a:r>
              <a:rPr dirty="0"/>
              <a:t> Feature Engineering &amp;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Engineered: </a:t>
            </a:r>
            <a:r>
              <a:rPr dirty="0" err="1"/>
              <a:t>Amount_log</a:t>
            </a:r>
            <a:r>
              <a:rPr dirty="0"/>
              <a:t>, </a:t>
            </a:r>
            <a:r>
              <a:rPr dirty="0" err="1"/>
              <a:t>Amount_rz</a:t>
            </a:r>
            <a:r>
              <a:rPr dirty="0"/>
              <a:t>, </a:t>
            </a:r>
            <a:r>
              <a:rPr dirty="0" err="1"/>
              <a:t>Time_sin</a:t>
            </a:r>
            <a:r>
              <a:rPr dirty="0"/>
              <a:t>, </a:t>
            </a:r>
            <a:r>
              <a:rPr dirty="0" err="1"/>
              <a:t>Time_cos</a:t>
            </a:r>
            <a:endParaRPr dirty="0"/>
          </a:p>
          <a:p>
            <a:r>
              <a:rPr lang="en-US" dirty="0"/>
              <a:t>Selected ~17/33 features using regularized linear models (SGD) + </a:t>
            </a:r>
            <a:r>
              <a:rPr lang="en-US" dirty="0" err="1"/>
              <a:t>SelectFromModel</a:t>
            </a:r>
            <a:endParaRPr lang="en-US" dirty="0"/>
          </a:p>
          <a:p>
            <a:r>
              <a:rPr dirty="0"/>
              <a:t>Dimensionality kept compact for latency and stability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5A5A"/>
                </a:solidFill>
              </a:defRPr>
            </a:pPr>
            <a:r>
              <a:rPr dirty="0"/>
              <a:t>Saved list: reports/selected_features.txt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16990-D6E8-AEF7-95F7-8A8923BDD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8862D-15E7-5D7F-C05E-3109EA4A9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IV.</a:t>
            </a:r>
            <a:r>
              <a:rPr dirty="0"/>
              <a:t> Feature Engineering &amp;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87DCE-27FA-928A-720A-9306AE0A8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We engineered four high-value signals, </a:t>
            </a:r>
            <a:r>
              <a:rPr lang="en-US" dirty="0" err="1"/>
              <a:t>Amount_log</a:t>
            </a:r>
            <a:r>
              <a:rPr lang="en-US" dirty="0"/>
              <a:t>, </a:t>
            </a:r>
            <a:r>
              <a:rPr lang="en-US" dirty="0" err="1"/>
              <a:t>Amount_rz</a:t>
            </a:r>
            <a:r>
              <a:rPr lang="en-US" dirty="0"/>
              <a:t> (IQR-scaled), and </a:t>
            </a:r>
            <a:r>
              <a:rPr lang="en-US" dirty="0" err="1"/>
              <a:t>Time_sin</a:t>
            </a:r>
            <a:r>
              <a:rPr lang="en-US" dirty="0"/>
              <a:t>/</a:t>
            </a:r>
            <a:r>
              <a:rPr lang="en-US" dirty="0" err="1"/>
              <a:t>Time_cos</a:t>
            </a:r>
            <a:r>
              <a:rPr lang="en-US" dirty="0"/>
              <a:t>—to tame long-tail spend and capture daily cyclic behavior without leakage. We then pruned with an elastic-net filter plus </a:t>
            </a:r>
            <a:r>
              <a:rPr lang="en-US" dirty="0" err="1"/>
              <a:t>SelectFromModel</a:t>
            </a:r>
            <a:r>
              <a:rPr lang="en-US" dirty="0"/>
              <a:t>, keeping ~17 of 33 inputs. The result is a compact, stable feature set that aligns with our SHAP insights (e.g., V14/V4/V12 and amount-derived features), reduces overfitting risk, and is built to meet sub-second inference. In short: fewer, stronger features leading it better generalization and predictable latency in production.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9F3C1D-6C79-3FD0-7FCA-C36F41D2E332}"/>
              </a:ext>
            </a:extLst>
          </p:cNvPr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5A5A"/>
                </a:solidFill>
              </a:defRPr>
            </a:pPr>
            <a:r>
              <a:t>Saved list: reports/selected_features.txt</a:t>
            </a:r>
          </a:p>
        </p:txBody>
      </p:sp>
    </p:spTree>
    <p:extLst>
      <p:ext uri="{BB962C8B-B14F-4D97-AF65-F5344CB8AC3E}">
        <p14:creationId xmlns:p14="http://schemas.microsoft.com/office/powerpoint/2010/main" val="12969154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V. </a:t>
            </a:r>
            <a:r>
              <a:rPr dirty="0"/>
              <a:t> Models &amp;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Models: Logistic Regression (balanced), </a:t>
            </a:r>
            <a:r>
              <a:rPr dirty="0" err="1"/>
              <a:t>RandomForest</a:t>
            </a:r>
            <a:r>
              <a:rPr dirty="0"/>
              <a:t>, </a:t>
            </a:r>
            <a:r>
              <a:rPr dirty="0" err="1"/>
              <a:t>XGBoost</a:t>
            </a:r>
            <a:r>
              <a:rPr dirty="0"/>
              <a:t> (</a:t>
            </a:r>
            <a:r>
              <a:rPr dirty="0" err="1"/>
              <a:t>scale_pos_weight</a:t>
            </a:r>
            <a:r>
              <a:rPr dirty="0"/>
              <a:t>)</a:t>
            </a:r>
          </a:p>
          <a:p>
            <a:r>
              <a:rPr dirty="0"/>
              <a:t>Primary: PR‑AUC, </a:t>
            </a:r>
            <a:r>
              <a:rPr dirty="0" err="1"/>
              <a:t>Precision@K</a:t>
            </a:r>
            <a:r>
              <a:rPr dirty="0"/>
              <a:t>, </a:t>
            </a:r>
            <a:r>
              <a:rPr dirty="0" err="1"/>
              <a:t>Recall@K</a:t>
            </a:r>
            <a:r>
              <a:rPr dirty="0"/>
              <a:t>; operate at alert budget or FPR cap</a:t>
            </a:r>
          </a:p>
          <a:p>
            <a:r>
              <a:rPr dirty="0"/>
              <a:t>Cost model: </a:t>
            </a:r>
            <a:r>
              <a:rPr dirty="0" err="1"/>
              <a:t>C_fraud</a:t>
            </a:r>
            <a:r>
              <a:rPr dirty="0"/>
              <a:t>=₱7,500; </a:t>
            </a:r>
            <a:r>
              <a:rPr dirty="0" err="1"/>
              <a:t>C_review</a:t>
            </a:r>
            <a:r>
              <a:rPr dirty="0"/>
              <a:t>=₱80; </a:t>
            </a:r>
            <a:r>
              <a:rPr dirty="0" err="1"/>
              <a:t>C_fp</a:t>
            </a:r>
            <a:r>
              <a:rPr dirty="0"/>
              <a:t>=₱150 → </a:t>
            </a:r>
            <a:r>
              <a:rPr dirty="0" err="1"/>
              <a:t>maximise</a:t>
            </a:r>
            <a:r>
              <a:rPr dirty="0"/>
              <a:t> Expected Value (EV)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487F4-8E7F-F7E9-274C-780AB6C87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B689F-ACBD-84D9-47E2-A24446316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V. </a:t>
            </a:r>
            <a:r>
              <a:rPr dirty="0"/>
              <a:t> Models &amp;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6453E-F59D-A0A3-88BA-10A946C846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We compared three production-oriented classifiers, Logistic Regression (class-weighted), Random Forest, and </a:t>
            </a:r>
            <a:r>
              <a:rPr lang="en-US" dirty="0" err="1"/>
              <a:t>XGBoost</a:t>
            </a:r>
            <a:r>
              <a:rPr lang="en-US" dirty="0"/>
              <a:t> to address extreme imbalance while keeping inference lightweight. We evaluate with PR-AUC plus operating-point metrics (</a:t>
            </a:r>
            <a:r>
              <a:rPr lang="en-US" dirty="0" err="1"/>
              <a:t>Precision@K</a:t>
            </a:r>
            <a:r>
              <a:rPr lang="en-US" dirty="0"/>
              <a:t>, </a:t>
            </a:r>
            <a:r>
              <a:rPr lang="en-US" dirty="0" err="1"/>
              <a:t>Recall@K</a:t>
            </a:r>
            <a:r>
              <a:rPr lang="en-US" dirty="0"/>
              <a:t>) under an alert-budget or FPR cap using temporal validation. A simple cost model (₱7,500 per fraud caught; ₱80 per review; ₱150 per false positive) turns metrics into Expected Value (EV), and we pick the threshold τ that maximizes EV subject to FPR ≤ 1% or the daily alert budget. This makes trade-offs explicit for Risk/Ops, more recall when capacity allows, tighter precision when it doesn’t, so models are compared on the same business footing.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515281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VI. </a:t>
            </a:r>
            <a:r>
              <a:rPr dirty="0"/>
              <a:t>Trade‑offs</a:t>
            </a:r>
            <a:r>
              <a:rPr lang="en-PH" dirty="0"/>
              <a:t> </a:t>
            </a:r>
            <a:r>
              <a:rPr dirty="0"/>
              <a:t>(EV vs 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0"/>
            <a:ext cx="76178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A5A5A"/>
                </a:solidFill>
              </a:defRPr>
            </a:pPr>
            <a:r>
              <a:rPr dirty="0"/>
              <a:t>EV vs alert budget K by model (from reports/figures/ev_vs_k.png)</a:t>
            </a:r>
            <a:endParaRPr lang="en-PH" dirty="0"/>
          </a:p>
          <a:p>
            <a:pPr>
              <a:defRPr sz="1200">
                <a:solidFill>
                  <a:srgbClr val="5A5A5A"/>
                </a:solidFill>
              </a:defRPr>
            </a:pPr>
            <a:r>
              <a:rPr lang="en-US" sz="1200" b="1" dirty="0"/>
              <a:t>Result:</a:t>
            </a:r>
            <a:r>
              <a:rPr lang="en-US" sz="1200" dirty="0"/>
              <a:t> EV is highest at small alert budgets—K ≈ 100–250—with </a:t>
            </a:r>
            <a:r>
              <a:rPr lang="en-US" sz="1200" dirty="0" err="1"/>
              <a:t>RandomForest</a:t>
            </a:r>
            <a:r>
              <a:rPr lang="en-US" sz="1200" dirty="0"/>
              <a:t> slightly leading; pushing K &gt; 500 erodes value, so set K by Ops capacity while honoring the ≤1% FPR cap.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0ADE6B-973F-2281-1709-7C26F51445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888" y="1382486"/>
            <a:ext cx="7576457" cy="424089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VII.</a:t>
            </a:r>
            <a:r>
              <a:rPr dirty="0"/>
              <a:t> Test Operating 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Chosen policy: FPR ≤ 0.5% on validation; evaluated on TEST</a:t>
            </a:r>
          </a:p>
          <a:p>
            <a:r>
              <a:rPr dirty="0"/>
              <a:t>TEST metrics: Alerts</a:t>
            </a:r>
            <a:r>
              <a:rPr lang="en-PH" dirty="0"/>
              <a:t> (test)</a:t>
            </a:r>
            <a:r>
              <a:rPr dirty="0"/>
              <a:t>, Precision, Recall, FPR, Expected Value (₱)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5A5A"/>
                </a:solidFill>
              </a:defRPr>
            </a:pPr>
            <a:r>
              <a:rPr dirty="0"/>
              <a:t>Source: reports/test_operating_point.csv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H" dirty="0"/>
              <a:t>IIX. </a:t>
            </a:r>
            <a:r>
              <a:rPr dirty="0"/>
              <a:t>Global (SHAP </a:t>
            </a:r>
            <a:r>
              <a:rPr dirty="0" err="1"/>
              <a:t>Beeswarm</a:t>
            </a:r>
            <a:r>
              <a:rPr dirty="0"/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0"/>
            <a:ext cx="7772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A5A5A"/>
                </a:solidFill>
              </a:defRPr>
            </a:pPr>
            <a:r>
              <a:rPr dirty="0"/>
              <a:t>Top contributing features toward fraud (class 1)</a:t>
            </a:r>
            <a:endParaRPr lang="en-PH" dirty="0"/>
          </a:p>
          <a:p>
            <a:pPr>
              <a:defRPr sz="1200">
                <a:solidFill>
                  <a:srgbClr val="5A5A5A"/>
                </a:solidFill>
              </a:defRPr>
            </a:pPr>
            <a:r>
              <a:rPr lang="en-US" sz="1200" b="1" dirty="0"/>
              <a:t>Global drivers:</a:t>
            </a:r>
            <a:r>
              <a:rPr lang="en-US" sz="1200" dirty="0"/>
              <a:t> V14, V17, V12, and V5 are the strongest fraud signals (higher values push risk up), with Amount/</a:t>
            </a:r>
            <a:r>
              <a:rPr lang="en-US" sz="1200" dirty="0" err="1"/>
              <a:t>Amount_rz</a:t>
            </a:r>
            <a:r>
              <a:rPr lang="en-US" sz="1200" dirty="0"/>
              <a:t> adding modest lift—these are the features to monitor and stress-test.</a:t>
            </a:r>
          </a:p>
          <a:p>
            <a:pPr>
              <a:defRPr sz="1200">
                <a:solidFill>
                  <a:srgbClr val="5A5A5A"/>
                </a:solidFill>
              </a:defRPr>
            </a:pP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A79936-F366-2DB3-D3B5-580A579866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23850"/>
            <a:ext cx="7772400" cy="4191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H" dirty="0"/>
              <a:t>IX.</a:t>
            </a:r>
            <a:r>
              <a:rPr dirty="0"/>
              <a:t>TP Example (Waterfall)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0"/>
            <a:ext cx="7772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A5A5A"/>
                </a:solidFill>
              </a:defRPr>
            </a:pPr>
            <a:r>
              <a:rPr dirty="0"/>
              <a:t>Single‑transaction explanation: why this alert is high‑risk</a:t>
            </a:r>
            <a:endParaRPr lang="en-PH" dirty="0"/>
          </a:p>
          <a:p>
            <a:pPr>
              <a:defRPr sz="1200">
                <a:solidFill>
                  <a:srgbClr val="5A5A5A"/>
                </a:solidFill>
              </a:defRPr>
            </a:pPr>
            <a:r>
              <a:rPr lang="en-US" sz="1200" b="1" dirty="0"/>
              <a:t>True-positive driver:</a:t>
            </a:r>
            <a:r>
              <a:rPr lang="en-US" sz="1200" dirty="0"/>
              <a:t> A distinctive spike pattern on V14/V12/V3 (reinforced by V11/V10) pushes the score from the baseline (~0.03) to ~1.0, matching our global SHAP importances and explaining why this alert is genuinely high-risk.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E2133C-A590-481C-85B3-93AF27604C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89164"/>
            <a:ext cx="7772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H" dirty="0"/>
              <a:t>X.</a:t>
            </a:r>
            <a:r>
              <a:rPr dirty="0"/>
              <a:t>FP Example (Waterfall)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0"/>
            <a:ext cx="786819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A5A5A"/>
                </a:solidFill>
              </a:defRPr>
            </a:pPr>
            <a:r>
              <a:rPr dirty="0"/>
              <a:t>Single‑transaction explanation: why a legit </a:t>
            </a:r>
            <a:r>
              <a:rPr dirty="0" err="1"/>
              <a:t>txn</a:t>
            </a:r>
            <a:r>
              <a:rPr dirty="0"/>
              <a:t> was flagged</a:t>
            </a:r>
            <a:endParaRPr lang="en-PH" dirty="0"/>
          </a:p>
          <a:p>
            <a:pPr>
              <a:defRPr sz="1200">
                <a:solidFill>
                  <a:srgbClr val="5A5A5A"/>
                </a:solidFill>
              </a:defRPr>
            </a:pPr>
            <a:r>
              <a:rPr lang="en-US" sz="1200" b="1" dirty="0"/>
              <a:t>FP takeaway:</a:t>
            </a:r>
            <a:r>
              <a:rPr lang="en-US" sz="1200" dirty="0"/>
              <a:t> A legit </a:t>
            </a:r>
            <a:r>
              <a:rPr lang="en-US" sz="1200" dirty="0" err="1"/>
              <a:t>txn</a:t>
            </a:r>
            <a:r>
              <a:rPr lang="en-US" sz="1200" dirty="0"/>
              <a:t> was flagged because strong positive signals on V17/V14/V5 outweighed small negatives (e.g., V10/V20), nudging the score just over τ a good candidate for QA routing or a slightly higher threshold for this pattern.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53FA65-F1EA-F674-1755-F91B6D1958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89164"/>
            <a:ext cx="7772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XI.</a:t>
            </a:r>
            <a:r>
              <a:rPr dirty="0"/>
              <a:t> Fairness &amp; Operational Slices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Amount quartiles and hour‑of‑day slices: alert rate &amp; precision monitored</a:t>
            </a:r>
          </a:p>
          <a:p>
            <a:r>
              <a:rPr dirty="0"/>
              <a:t>Observed: higher alert concentration in Evening; better precision in mid/high amounts</a:t>
            </a:r>
          </a:p>
          <a:p>
            <a:r>
              <a:rPr dirty="0"/>
              <a:t>Mitigations: threshold routing, QA sampling on low‑precision slices</a:t>
            </a:r>
            <a:endParaRPr lang="en-PH" dirty="0"/>
          </a:p>
          <a:p>
            <a:r>
              <a:rPr lang="en-US" b="1" dirty="0"/>
              <a:t>Fairness check:</a:t>
            </a:r>
            <a:r>
              <a:rPr lang="en-US" dirty="0"/>
              <a:t> selection-rate ratio across transaction amount quartiles ranged from </a:t>
            </a:r>
            <a:r>
              <a:rPr lang="en-US" b="1" dirty="0"/>
              <a:t>0.92–1.08</a:t>
            </a:r>
            <a:r>
              <a:rPr lang="en-US" dirty="0"/>
              <a:t>, indicating no material disparate impact; monitored weekly alongside FPR/TPR by slice</a:t>
            </a:r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959746-9BEA-A8E6-DCBF-A587892EE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10FA1-F433-F83E-0659-4428DB0A4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XI.</a:t>
            </a:r>
            <a:r>
              <a:rPr dirty="0"/>
              <a:t> Fairness &amp; Operational Slices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3AB599-A691-10E7-B198-B6126BF778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 track alert rate and precision by operational slices (e.g., amount quartiles and hour-of-day). In this test window, alerts cluster in the evening and precision is higher on mid/high-amount transactions. Mitigations are slice-aware thresholds and QA sampling on lower-precision slices, with ongoing monitoring to keep performance and customer impact balanced.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714210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H" dirty="0"/>
              <a:t>XII.</a:t>
            </a:r>
            <a:r>
              <a:rPr dirty="0"/>
              <a:t> Risks, Governance &amp; Reproducibility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Drift monitoring (PSI) + monthly recalibration of thresholds</a:t>
            </a:r>
          </a:p>
          <a:p>
            <a:r>
              <a:t>Prevent leakage; audit trails for changes and reviews</a:t>
            </a:r>
          </a:p>
          <a:p>
            <a:r>
              <a:t>Reproducibility: repo with reports, figures, requirements; deterministic splits</a:t>
            </a:r>
          </a:p>
          <a:p>
            <a:r>
              <a:t>Latency target: ≤300 ms inference (RF/XGB feasible)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5A5A"/>
                </a:solidFill>
              </a:defRPr>
            </a:pPr>
            <a:r>
              <a:t>Repo: github.com/patrickearriola-max/Pat-Arriola-Fraud-Capstone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BB935-A120-605F-488E-89A8ABFAD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69E25-4A51-63C8-EC9E-9E3D9698D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H" dirty="0"/>
              <a:t>XII.</a:t>
            </a:r>
            <a:r>
              <a:rPr dirty="0"/>
              <a:t> Risks, Governance &amp; Reproducibility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D440C1-0E85-4BC7-4B4D-ADAB29378F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 operate with bank-grade guardrails: drift is monitored with PSI and thresholds are re-calibrated on a monthly cadence; leakage is prevented (no post-transaction fields) and all changes are auditable via Git. The repo contains deterministic temporal splits, figures, and requirements to fully reproduce results. Inference targets ≤300 </a:t>
            </a:r>
            <a:r>
              <a:rPr lang="en-US" dirty="0" err="1"/>
              <a:t>ms</a:t>
            </a:r>
            <a:r>
              <a:rPr lang="en-US" dirty="0"/>
              <a:t> per transaction with compact tree models (RF/XGB), suitable for real-time scoring.</a:t>
            </a:r>
            <a:endParaRPr lang="en-PH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23004A-F81A-BB6F-730A-033DE76213E2}"/>
              </a:ext>
            </a:extLst>
          </p:cNvPr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5A5A"/>
                </a:solidFill>
              </a:defRPr>
            </a:pPr>
            <a:r>
              <a:t>Repo: github.com/patrickearriola-max/Pat-Arriola-Fraud-Capstone</a:t>
            </a:r>
          </a:p>
        </p:txBody>
      </p:sp>
    </p:spTree>
    <p:extLst>
      <p:ext uri="{BB962C8B-B14F-4D97-AF65-F5344CB8AC3E}">
        <p14:creationId xmlns:p14="http://schemas.microsoft.com/office/powerpoint/2010/main" val="38814628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94C552-AB85-7319-81F7-34A490E08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EE001-B24A-676E-E9BD-13E478306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H" dirty="0"/>
              <a:t>Summary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DB73DB-5A46-65E4-BCF1-1A25CF47542F}"/>
              </a:ext>
            </a:extLst>
          </p:cNvPr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5A5A"/>
                </a:solidFill>
              </a:defRPr>
            </a:pPr>
            <a:r>
              <a:t>Repo: github.com/patrickearriola-max/Pat-Arriola-Fraud-Capstone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59A73BD-9083-CBE2-E892-0E16B4C1C8E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9599" y="1601173"/>
            <a:ext cx="6792687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Problem: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CNP fraud in PH e-commerce; minimize loss with low customer friction.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Kaggle proxy; temporal 80/10/10 split; fraud ≈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0.17%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V1–V28 +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Amount_log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Amount_rz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Time_sin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/cos; ~17/33 kept via elastic-net + SFM.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Models compared: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Logistic,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RandomForest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XGBoost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(imbalance handled via class weights)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Selection: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sng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RandomForest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performed best on EV at strict FPR caps.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PH" b="1" dirty="0"/>
              <a:t>Chosen operating point (validation cap FPR≈0.17%) → TEST:</a:t>
            </a:r>
            <a:br>
              <a:rPr lang="en-PH" dirty="0"/>
            </a:br>
            <a:r>
              <a:rPr lang="el-GR" dirty="0"/>
              <a:t>τ≈0.24, </a:t>
            </a:r>
            <a:r>
              <a:rPr lang="en-PH" dirty="0"/>
              <a:t>Alerts=65, Precision=0.246, Recall=0.727, </a:t>
            </a:r>
            <a:r>
              <a:rPr lang="en-PH" b="1" dirty="0"/>
              <a:t>FPR≈0.17%</a:t>
            </a:r>
            <a:r>
              <a:rPr lang="en-PH" dirty="0"/>
              <a:t>, </a:t>
            </a:r>
            <a:r>
              <a:rPr lang="en-PH" b="1" dirty="0"/>
              <a:t>EV≈₱107,450 (TEST window)</a:t>
            </a:r>
            <a:r>
              <a:rPr lang="en-PH" dirty="0"/>
              <a:t>.</a:t>
            </a:r>
            <a:br>
              <a:rPr lang="en-PH" dirty="0"/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8147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BD662-02EC-97EE-1248-57EBF0B02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26FF3-AF98-1669-4AEB-A8D4AD3C6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H" dirty="0"/>
              <a:t>Recommendations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A7526F-9D65-80BC-15EA-F734F01F30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616305"/>
            <a:ext cx="6347714" cy="3880773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Go live in shadow mode</a:t>
            </a:r>
            <a:r>
              <a:rPr lang="en-US" dirty="0"/>
              <a:t> with </a:t>
            </a:r>
            <a:r>
              <a:rPr lang="en-US" b="1" dirty="0" err="1"/>
              <a:t>RandomForest</a:t>
            </a:r>
            <a:r>
              <a:rPr lang="en-US" b="1" dirty="0"/>
              <a:t> </a:t>
            </a:r>
            <a:r>
              <a:rPr lang="en-US" dirty="0"/>
              <a:t>@ τ≈0.24 and FPR cap ≤0.5%; compare to current rules for 2–4 weeks. </a:t>
            </a:r>
            <a:r>
              <a:rPr dirty="0"/>
              <a:t>Prevent leakage; audit trails for changes and reviews</a:t>
            </a:r>
          </a:p>
          <a:p>
            <a:r>
              <a:rPr lang="en-PH" b="1" dirty="0"/>
              <a:t>Start with K≈65 alerts per evaluation window</a:t>
            </a:r>
            <a:r>
              <a:rPr lang="en-PH" dirty="0"/>
              <a:t>; revisit to K≈250 if ops capacity rises and precision holds.</a:t>
            </a:r>
            <a:br>
              <a:rPr lang="en-PH" dirty="0"/>
            </a:br>
            <a:r>
              <a:rPr lang="en-PH" b="1" dirty="0"/>
              <a:t>Monitoring:</a:t>
            </a:r>
            <a:r>
              <a:rPr lang="en-PH" dirty="0"/>
              <a:t> PR-AUC, </a:t>
            </a:r>
            <a:r>
              <a:rPr lang="en-PH" dirty="0" err="1"/>
              <a:t>Precision@K</a:t>
            </a:r>
            <a:r>
              <a:rPr lang="en-PH" dirty="0"/>
              <a:t>, EV, FPR, plus fairness slices (amount/hour) weekly; alert on drift (PSI)</a:t>
            </a:r>
            <a:r>
              <a:rPr lang="en-US" dirty="0"/>
              <a:t>.</a:t>
            </a:r>
          </a:p>
          <a:p>
            <a:r>
              <a:rPr lang="en-US" b="1" dirty="0"/>
              <a:t>Governance:</a:t>
            </a:r>
            <a:r>
              <a:rPr lang="en-US" dirty="0"/>
              <a:t> lock features to avoid leakage; log predictions, thresholds, reviewer outcomes.</a:t>
            </a:r>
          </a:p>
          <a:p>
            <a:r>
              <a:rPr lang="en-US" b="1" dirty="0"/>
              <a:t>Engineering:</a:t>
            </a:r>
            <a:r>
              <a:rPr lang="en-US" dirty="0"/>
              <a:t> package model as a REST endpoint; confirm p95 inference &lt;300 </a:t>
            </a:r>
            <a:r>
              <a:rPr lang="en-US" dirty="0" err="1"/>
              <a:t>ms</a:t>
            </a:r>
            <a:r>
              <a:rPr lang="en-US" dirty="0"/>
              <a:t>; add threshold config.</a:t>
            </a:r>
          </a:p>
          <a:p>
            <a:r>
              <a:rPr lang="en-US" b="1" dirty="0"/>
              <a:t>Engineering:</a:t>
            </a:r>
            <a:r>
              <a:rPr lang="en-US" dirty="0"/>
              <a:t> package model as a REST endpoint; confirm p95 inference &lt;300 </a:t>
            </a:r>
            <a:r>
              <a:rPr lang="en-US" dirty="0" err="1"/>
              <a:t>ms</a:t>
            </a:r>
            <a:r>
              <a:rPr lang="en-US" dirty="0"/>
              <a:t>; add threshold config.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2C5CB3-8AD5-87FE-45F0-F5D6F4EADC06}"/>
              </a:ext>
            </a:extLst>
          </p:cNvPr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5A5A"/>
                </a:solidFill>
              </a:defRPr>
            </a:pPr>
            <a:r>
              <a:t>Repo: github.com/patrickearriola-max/Pat-Arriola-Fraud-Capstone</a:t>
            </a:r>
          </a:p>
        </p:txBody>
      </p:sp>
    </p:spTree>
    <p:extLst>
      <p:ext uri="{BB962C8B-B14F-4D97-AF65-F5344CB8AC3E}">
        <p14:creationId xmlns:p14="http://schemas.microsoft.com/office/powerpoint/2010/main" val="14969772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BF4EB6-BC55-644C-6178-60F51461C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 descr="Close-up of hopscotch on a sidewalk">
            <a:extLst>
              <a:ext uri="{FF2B5EF4-FFF2-40B4-BE49-F238E27FC236}">
                <a16:creationId xmlns:a16="http://schemas.microsoft.com/office/drawing/2014/main" id="{7C533DAF-301A-41E1-ABC6-B981C1B7A38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prstClr val="white"/>
            </a:duotone>
          </a:blip>
          <a:srcRect l="27622" r="20802" b="-2"/>
          <a:stretch>
            <a:fillRect/>
          </a:stretch>
        </p:blipFill>
        <p:spPr>
          <a:xfrm>
            <a:off x="3842657" y="-1"/>
            <a:ext cx="5298961" cy="6858001"/>
          </a:xfrm>
          <a:custGeom>
            <a:avLst/>
            <a:gdLst/>
            <a:ahLst/>
            <a:cxnLst/>
            <a:rect l="l" t="t" r="r" b="b"/>
            <a:pathLst>
              <a:path w="7065281" h="6858001">
                <a:moveTo>
                  <a:pt x="379987" y="0"/>
                </a:moveTo>
                <a:lnTo>
                  <a:pt x="7065281" y="0"/>
                </a:lnTo>
                <a:lnTo>
                  <a:pt x="7065281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619ABFE-2D65-2592-163A-5C83CBE41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649" y="1678666"/>
            <a:ext cx="3842636" cy="236909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200"/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389769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1944</TotalTime>
  <Words>2126</Words>
  <Application>Microsoft Office PowerPoint</Application>
  <PresentationFormat>On-screen Show (4:3)</PresentationFormat>
  <Paragraphs>116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Aptos</vt:lpstr>
      <vt:lpstr>Arial</vt:lpstr>
      <vt:lpstr>Segoe UI</vt:lpstr>
      <vt:lpstr>Trebuchet MS</vt:lpstr>
      <vt:lpstr>Wingdings 3</vt:lpstr>
      <vt:lpstr>Facet</vt:lpstr>
      <vt:lpstr>Retail Bank CNP Fraud Detection — Technical Deck</vt:lpstr>
      <vt:lpstr>Problem &amp; Methodology</vt:lpstr>
      <vt:lpstr>I.Problem Frame</vt:lpstr>
      <vt:lpstr>Problem Frame Context</vt:lpstr>
      <vt:lpstr>II. Data &amp; Labels</vt:lpstr>
      <vt:lpstr>Data &amp; Labels</vt:lpstr>
      <vt:lpstr>III. EDA &amp; Preprocessing</vt:lpstr>
      <vt:lpstr>EDA &amp; Preprocessing</vt:lpstr>
      <vt:lpstr>IV. Feature Engineering &amp; Selection</vt:lpstr>
      <vt:lpstr>IV. Feature Engineering &amp; Selection</vt:lpstr>
      <vt:lpstr>V.  Models &amp; Metrics</vt:lpstr>
      <vt:lpstr>V.  Models &amp; Metrics</vt:lpstr>
      <vt:lpstr>VI. Trade‑offs (EV vs K)</vt:lpstr>
      <vt:lpstr>VII. Test Operating Point</vt:lpstr>
      <vt:lpstr>IIX. Global (SHAP Beeswarm)</vt:lpstr>
      <vt:lpstr>IX.TP Example (Waterfall)</vt:lpstr>
      <vt:lpstr>X.FP Example (Waterfall)</vt:lpstr>
      <vt:lpstr>XI. Fairness &amp; Operational Slices</vt:lpstr>
      <vt:lpstr>XI. Fairness &amp; Operational Slices</vt:lpstr>
      <vt:lpstr>XII. Risks, Governance &amp; Reproducibility</vt:lpstr>
      <vt:lpstr>XII. Risks, Governance &amp; Reproducibility</vt:lpstr>
      <vt:lpstr>Summary</vt:lpstr>
      <vt:lpstr>Recommendations</vt:lpstr>
      <vt:lpstr>END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Pat Arriola</dc:creator>
  <cp:keywords/>
  <dc:description>generated using python-pptx</dc:description>
  <cp:lastModifiedBy>Patrick Evan Arriola</cp:lastModifiedBy>
  <cp:revision>24</cp:revision>
  <dcterms:created xsi:type="dcterms:W3CDTF">2013-01-27T09:14:16Z</dcterms:created>
  <dcterms:modified xsi:type="dcterms:W3CDTF">2025-12-23T15:31:30Z</dcterms:modified>
  <cp:category/>
</cp:coreProperties>
</file>